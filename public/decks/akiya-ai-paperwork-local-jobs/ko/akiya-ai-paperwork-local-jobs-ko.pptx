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584"/>
  </p:normalViewPr>
  <p:slideViewPr>
    <p:cSldViewPr snapToGrid="0" snapToObjects="1">
      <p:cViewPr varScale="1">
        <p:scale>
          <a:sx n="151" d="100"/>
          <a:sy n="151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1882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 수정해야 함</a:t>
            </a:r>
            <a:r>
              <a:rPr lang="en-US" altLang="ko-KR" dirty="0"/>
              <a:t>[06/04]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 </a:t>
            </a:r>
            <a:r>
              <a:rPr lang="ko-KR" altLang="en-US" dirty="0" err="1"/>
              <a:t>수정해야해</a:t>
            </a:r>
            <a:r>
              <a:rPr lang="ko-KR" altLang="en-US" dirty="0"/>
              <a:t> </a:t>
            </a:r>
            <a:r>
              <a:rPr lang="en-US" altLang="ko-KR" dirty="0"/>
              <a:t>100000</a:t>
            </a:r>
            <a:r>
              <a:rPr lang="ko-KR" altLang="en-US" dirty="0"/>
              <a:t>엔이 과태료인가 사실 검증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NAM JEONG HUN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66928" y="713232"/>
            <a:ext cx="1005840" cy="0"/>
          </a:xfrm>
          <a:prstGeom prst="line">
            <a:avLst/>
          </a:prstGeom>
          <a:noFill/>
          <a:ln w="3302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813817"/>
            <a:ext cx="11039550" cy="1938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sz="4000" b="1" dirty="0"/>
              <a:t>From Urban Akiya to Local Work</a:t>
            </a:r>
            <a:endParaRPr lang="en-KR" sz="4000" dirty="0"/>
          </a:p>
          <a:p>
            <a:pPr>
              <a:lnSpc>
                <a:spcPct val="120000"/>
              </a:lnSpc>
            </a:pPr>
            <a:r>
              <a:rPr sz="4000" b="1" dirty="0"/>
              <a:t>AI Paperwork × Vacant House Monitoring × </a:t>
            </a:r>
            <a:endParaRPr lang="en-US" sz="4000" b="1" dirty="0"/>
          </a:p>
          <a:p>
            <a:pPr>
              <a:lnSpc>
                <a:spcPct val="120000"/>
              </a:lnSpc>
            </a:pPr>
            <a:r>
              <a:rPr sz="4000" b="1" dirty="0"/>
              <a:t>Senior &amp; Part-time Jobs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66928" y="2896355"/>
            <a:ext cx="3101305" cy="378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000" b="1" dirty="0">
                <a:solidFill>
                  <a:srgbClr val="C1121F"/>
                </a:solidFill>
                <a:latin typeface="Noto Sans CJK KR"/>
              </a:rPr>
              <a:t>AI × </a:t>
            </a:r>
            <a:r>
              <a:rPr sz="2000" b="1" dirty="0" err="1">
                <a:solidFill>
                  <a:srgbClr val="C1121F"/>
                </a:solidFill>
                <a:latin typeface="Noto Sans CJK KR"/>
              </a:rPr>
              <a:t>書類支援</a:t>
            </a:r>
            <a:r>
              <a:rPr sz="2000" b="1" dirty="0">
                <a:solidFill>
                  <a:srgbClr val="C1121F"/>
                </a:solidFill>
                <a:latin typeface="Noto Sans CJK KR"/>
              </a:rPr>
              <a:t> × </a:t>
            </a:r>
            <a:r>
              <a:rPr sz="2000" b="1" dirty="0" err="1">
                <a:solidFill>
                  <a:srgbClr val="C1121F"/>
                </a:solidFill>
                <a:latin typeface="Noto Sans CJK KR"/>
              </a:rPr>
              <a:t>地域雇用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428999"/>
            <a:ext cx="8961120" cy="1120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1950" dirty="0" err="1">
                <a:solidFill>
                  <a:srgbClr val="111111"/>
                </a:solidFill>
                <a:latin typeface="Noto Sans CJK KR"/>
              </a:rPr>
              <a:t>도쿄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도심의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빈집은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950" dirty="0" err="1">
                <a:solidFill>
                  <a:srgbClr val="111111"/>
                </a:solidFill>
                <a:latin typeface="Noto Sans CJK KR"/>
              </a:rPr>
              <a:t>고가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부동산·상속·노후</a:t>
            </a:r>
            <a:r>
              <a:rPr lang="ko-KR" altLang="en-US"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건축·행정</a:t>
            </a:r>
            <a:r>
              <a:rPr lang="ko-KR" altLang="en-US"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마찰이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겹친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도시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문제</a:t>
            </a:r>
            <a:r>
              <a:rPr lang="ko-KR" altLang="en-US" sz="1950" dirty="0">
                <a:solidFill>
                  <a:srgbClr val="111111"/>
                </a:solidFill>
                <a:latin typeface="Noto Sans CJK KR"/>
              </a:rPr>
              <a:t>이지만</a:t>
            </a:r>
            <a:r>
              <a:rPr lang="en-US" altLang="ko-KR" sz="1950" dirty="0">
                <a:solidFill>
                  <a:srgbClr val="111111"/>
                </a:solidFill>
                <a:latin typeface="Noto Sans CJK KR"/>
              </a:rPr>
              <a:t>,</a:t>
            </a:r>
            <a:endParaRPr sz="1950" dirty="0">
              <a:solidFill>
                <a:srgbClr val="111111"/>
              </a:solidFill>
              <a:latin typeface="Noto Sans CJK KR"/>
            </a:endParaRPr>
          </a:p>
          <a:p>
            <a:pPr algn="l">
              <a:lnSpc>
                <a:spcPct val="120000"/>
              </a:lnSpc>
            </a:pPr>
            <a:r>
              <a:rPr sz="1950" dirty="0" err="1">
                <a:solidFill>
                  <a:srgbClr val="111111"/>
                </a:solidFill>
                <a:latin typeface="Noto Sans CJK KR"/>
              </a:rPr>
              <a:t>건강한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고령층과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파트타임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인력이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수행할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수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있는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지역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일자리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950" dirty="0" err="1">
                <a:solidFill>
                  <a:srgbClr val="111111"/>
                </a:solidFill>
                <a:latin typeface="Noto Sans CJK KR"/>
              </a:rPr>
              <a:t>수요다</a:t>
            </a:r>
            <a:r>
              <a:rPr sz="1950" dirty="0">
                <a:solidFill>
                  <a:srgbClr val="111111"/>
                </a:solidFill>
                <a:latin typeface="Noto Sans CJK KR"/>
              </a:rPr>
              <a:t>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66928" y="4846320"/>
            <a:ext cx="329184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Setagaya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266212"/>
            <a:ext cx="329184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Tokyo high-value residential ward as focus case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4846320"/>
            <a:ext cx="2103120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10.9%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5266212"/>
            <a:ext cx="2103120" cy="284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 vacant-dwelling rate, official survey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29399" y="4846320"/>
            <a:ext cx="4864395" cy="412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700" b="1" dirty="0">
                <a:solidFill>
                  <a:srgbClr val="111111"/>
                </a:solidFill>
                <a:latin typeface="Noto Sans CJK KR"/>
              </a:rPr>
              <a:t>AI PAPERWORK + LOCAL JOBS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629399" y="5266212"/>
            <a:ext cx="3067494" cy="28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sz="1000" dirty="0"/>
              <a:t>document guide + risk triage + weekly monitoring</a:t>
            </a:r>
          </a:p>
          <a:p>
            <a:r>
              <a:rPr sz="1000" dirty="0"/>
              <a:t>worker reports + owner dashboard</a:t>
            </a:r>
          </a:p>
        </p:txBody>
      </p:sp>
      <p:sp>
        <p:nvSpPr>
          <p:cNvPr id="13" name="Shape 11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666666"/>
                </a:solidFill>
                <a:latin typeface="Noto Sans CJK KR"/>
              </a:rPr>
              <a:t>Tokyo / Setagaya Urban Akiya Research Deck · Text-only design</a:t>
            </a:r>
            <a:endParaRPr lang="en-US" sz="65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00 / ROADMAP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総務省統計局 住宅・土地統計調査, 東京都 令和5年住宅・土地統計調査, 世田谷区 第二次空家等対策計画, 国交省, 法務省, LIFULL HOME'S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276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627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1645920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도시형 아키야는 저가 주택 문제가 아니라 관리·소유·정책 마찰 문제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566928" y="208483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566928" y="23225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322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통계와 시장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2340864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일본 전국, 도쿄, 세타가야의 빈집 수·비율·가격 구조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566928" y="277977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566928" y="3017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 케이스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30168" y="3035808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현장조사, 소유자 설문, 위험도, 장기방치 원인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566928" y="347472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37124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712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변화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30168" y="3730752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 개정 空家法, 2024 상속등기 의무화, 지자체 업무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566928" y="416966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566928" y="44074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4265679"/>
            <a:ext cx="1891319" cy="61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111111"/>
                </a:solidFill>
                <a:latin typeface="Noto Sans CJK KR"/>
              </a:rPr>
              <a:t>AI </a:t>
            </a:r>
            <a:r>
              <a:rPr sz="1600" b="1" dirty="0" err="1">
                <a:solidFill>
                  <a:srgbClr val="111111"/>
                </a:solidFill>
                <a:latin typeface="Noto Sans CJK KR"/>
              </a:rPr>
              <a:t>문서</a:t>
            </a:r>
            <a:r>
              <a:rPr lang="ko-KR" altLang="en-US" sz="16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11111"/>
                </a:solidFill>
                <a:latin typeface="Noto Sans CJK KR"/>
              </a:rPr>
              <a:t>지원</a:t>
            </a:r>
            <a:r>
              <a:rPr sz="1600" b="1" dirty="0">
                <a:solidFill>
                  <a:srgbClr val="111111"/>
                </a:solidFill>
                <a:latin typeface="Noto Sans CJK KR"/>
              </a:rPr>
              <a:t> </a:t>
            </a:r>
            <a:endParaRPr lang="en-US" sz="1600" b="1" dirty="0">
              <a:solidFill>
                <a:srgbClr val="111111"/>
              </a:solidFill>
              <a:latin typeface="Noto Sans CJK KR"/>
            </a:endParaRPr>
          </a:p>
          <a:p>
            <a:pPr marL="0" indent="0" algn="l">
              <a:buNone/>
            </a:pPr>
            <a:r>
              <a:rPr sz="1600" b="1" dirty="0" err="1">
                <a:solidFill>
                  <a:srgbClr val="111111"/>
                </a:solidFill>
                <a:latin typeface="Noto Sans CJK KR"/>
              </a:rPr>
              <a:t>지역</a:t>
            </a:r>
            <a:r>
              <a:rPr sz="16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600" b="1" dirty="0" err="1">
                <a:solidFill>
                  <a:srgbClr val="111111"/>
                </a:solidFill>
                <a:latin typeface="Noto Sans CJK KR"/>
              </a:rPr>
              <a:t>일자리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630168" y="4425696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60" dirty="0">
                <a:solidFill>
                  <a:srgbClr val="666666"/>
                </a:solidFill>
                <a:latin typeface="Noto Sans CJK KR"/>
              </a:rPr>
              <a:t>AI </a:t>
            </a:r>
            <a:r>
              <a:rPr sz="1260" dirty="0" err="1">
                <a:solidFill>
                  <a:srgbClr val="666666"/>
                </a:solidFill>
                <a:latin typeface="Noto Sans CJK KR"/>
              </a:rPr>
              <a:t>서류</a:t>
            </a:r>
            <a:r>
              <a:rPr lang="ko-KR" altLang="en-US" sz="126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260" dirty="0" err="1">
                <a:solidFill>
                  <a:srgbClr val="666666"/>
                </a:solidFill>
                <a:latin typeface="Noto Sans CJK KR"/>
              </a:rPr>
              <a:t>지원</a:t>
            </a:r>
            <a:r>
              <a:rPr sz="1260" dirty="0">
                <a:solidFill>
                  <a:srgbClr val="666666"/>
                </a:solidFill>
                <a:latin typeface="Noto Sans CJK KR"/>
              </a:rPr>
              <a:t> + </a:t>
            </a:r>
            <a:r>
              <a:rPr sz="1260" dirty="0" err="1">
                <a:solidFill>
                  <a:srgbClr val="666666"/>
                </a:solidFill>
                <a:latin typeface="Noto Sans CJK KR"/>
              </a:rPr>
              <a:t>주간</a:t>
            </a:r>
            <a:r>
              <a:rPr lang="ko-KR" altLang="en-US" sz="126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260" dirty="0" err="1">
                <a:solidFill>
                  <a:srgbClr val="666666"/>
                </a:solidFill>
                <a:latin typeface="Noto Sans CJK KR"/>
              </a:rPr>
              <a:t>점검</a:t>
            </a:r>
            <a:r>
              <a:rPr sz="126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260" dirty="0" err="1">
                <a:solidFill>
                  <a:srgbClr val="666666"/>
                </a:solidFill>
                <a:latin typeface="Noto Sans CJK KR"/>
              </a:rPr>
              <a:t>업무배정</a:t>
            </a:r>
            <a:r>
              <a:rPr sz="1260" dirty="0">
                <a:solidFill>
                  <a:srgbClr val="666666"/>
                </a:solidFill>
                <a:latin typeface="Noto Sans CJK KR"/>
              </a:rPr>
              <a:t> + Akiya Manager </a:t>
            </a:r>
            <a:r>
              <a:rPr sz="1260" dirty="0" err="1">
                <a:solidFill>
                  <a:srgbClr val="666666"/>
                </a:solidFill>
                <a:latin typeface="Noto Sans CJK KR"/>
              </a:rPr>
              <a:t>고용</a:t>
            </a:r>
            <a:r>
              <a:rPr sz="126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260" dirty="0" err="1">
                <a:solidFill>
                  <a:srgbClr val="666666"/>
                </a:solidFill>
                <a:latin typeface="Noto Sans CJK KR"/>
              </a:rPr>
              <a:t>모델</a:t>
            </a:r>
            <a:endParaRPr lang="en-US" sz="1260" dirty="0"/>
          </a:p>
        </p:txBody>
      </p:sp>
      <p:sp>
        <p:nvSpPr>
          <p:cNvPr id="28" name="Shape 26"/>
          <p:cNvSpPr/>
          <p:nvPr/>
        </p:nvSpPr>
        <p:spPr>
          <a:xfrm>
            <a:off x="566928" y="486460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1023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5102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111111"/>
                </a:solidFill>
                <a:latin typeface="Noto Sans CJK KR"/>
              </a:rPr>
              <a:t>재원과 실행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630168" y="5120640"/>
            <a:ext cx="7543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60">
                <a:solidFill>
                  <a:srgbClr val="666666"/>
                </a:solidFill>
                <a:latin typeface="Noto Sans CJK KR"/>
              </a:rPr>
              <a:t>급여 구조, 정부지원 가능성, AI 기술, MVP, KPI, 리스크</a:t>
            </a:r>
            <a:endParaRPr lang="en-US" sz="12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/ THESIS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“빈집을 겨냥한 부동산 서비스”보다 먼저 필요한 것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総務省統計局 住宅・土地統計調査, 東京都 令和5年住宅・土地統計調査, 世田谷区 第二次空家等対策計画, 国交省, 法務省, LIFULL HOME'S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17320"/>
            <a:ext cx="7333063" cy="421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500" b="1" dirty="0" err="1">
                <a:solidFill>
                  <a:srgbClr val="111111"/>
                </a:solidFill>
                <a:latin typeface="Noto Sans CJK KR"/>
              </a:rPr>
              <a:t>도심형</a:t>
            </a:r>
            <a:r>
              <a:rPr sz="25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lang="en-KR" sz="2500" b="1" dirty="0">
                <a:solidFill>
                  <a:srgbClr val="111111"/>
                </a:solidFill>
                <a:latin typeface="Noto Sans CJK KR"/>
              </a:rPr>
              <a:t>空き家</a:t>
            </a:r>
            <a:r>
              <a:rPr sz="2500" b="1" dirty="0" err="1">
                <a:solidFill>
                  <a:srgbClr val="111111"/>
                </a:solidFill>
                <a:latin typeface="Noto Sans CJK KR"/>
              </a:rPr>
              <a:t>의</a:t>
            </a:r>
            <a:r>
              <a:rPr sz="25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Noto Sans CJK KR"/>
              </a:rPr>
              <a:t>병목은</a:t>
            </a:r>
            <a:r>
              <a:rPr sz="25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Noto Sans CJK KR"/>
              </a:rPr>
              <a:t>거래가</a:t>
            </a:r>
            <a:r>
              <a:rPr sz="25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Noto Sans CJK KR"/>
              </a:rPr>
              <a:t>아니라</a:t>
            </a:r>
            <a:r>
              <a:rPr sz="25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Noto Sans CJK KR"/>
              </a:rPr>
              <a:t>실행이다</a:t>
            </a:r>
            <a:endParaRPr lang="en-US" sz="2500" b="1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66928" y="2834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일반적인 접근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83464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새롭게</a:t>
            </a: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잡아야 할 접근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218688"/>
            <a:ext cx="51663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355080" y="3218688"/>
            <a:ext cx="51663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566928" y="3364992"/>
            <a:ext cx="516636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40" dirty="0" err="1">
                <a:solidFill>
                  <a:srgbClr val="111111"/>
                </a:solidFill>
                <a:latin typeface="Noto Sans CJK KR"/>
              </a:rPr>
              <a:t>빈집을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검색한다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1440" dirty="0"/>
          </a:p>
          <a:p>
            <a:pPr algn="l"/>
            <a:r>
              <a:rPr sz="1440" dirty="0" err="1">
                <a:solidFill>
                  <a:srgbClr val="111111"/>
                </a:solidFill>
                <a:latin typeface="Noto Sans CJK KR"/>
              </a:rPr>
              <a:t>싼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집을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찾는다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.</a:t>
            </a:r>
          </a:p>
          <a:p>
            <a:pPr algn="l"/>
            <a:r>
              <a:rPr sz="1440" dirty="0" err="1">
                <a:solidFill>
                  <a:srgbClr val="111111"/>
                </a:solidFill>
                <a:latin typeface="Noto Sans CJK KR"/>
              </a:rPr>
              <a:t>매매·임대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플랫폼을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만든다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.</a:t>
            </a:r>
          </a:p>
          <a:p>
            <a:pPr algn="l"/>
            <a:endParaRPr sz="1440" dirty="0">
              <a:solidFill>
                <a:srgbClr val="111111"/>
              </a:solidFill>
              <a:latin typeface="Noto Sans CJK KR"/>
            </a:endParaRPr>
          </a:p>
          <a:p>
            <a:pPr algn="l"/>
            <a:r>
              <a:rPr sz="1440" dirty="0" err="1">
                <a:solidFill>
                  <a:srgbClr val="111111"/>
                </a:solidFill>
                <a:latin typeface="Noto Sans CJK KR"/>
              </a:rPr>
              <a:t>그러나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도쿄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도심에서는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가격이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높고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,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상속·세금·관리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문제가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남아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거래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단계에서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멈춘다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.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355080" y="3364992"/>
            <a:ext cx="516636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40" dirty="0" err="1">
                <a:solidFill>
                  <a:srgbClr val="111111"/>
                </a:solidFill>
                <a:latin typeface="Noto Sans CJK KR"/>
              </a:rPr>
              <a:t>AI가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서류와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위험을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정리한다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1440" dirty="0"/>
          </a:p>
          <a:p>
            <a:pPr algn="l"/>
            <a:r>
              <a:rPr sz="1440" dirty="0" err="1">
                <a:solidFill>
                  <a:srgbClr val="111111"/>
                </a:solidFill>
                <a:latin typeface="Noto Sans CJK KR"/>
              </a:rPr>
              <a:t>빈집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관리를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작은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업무로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쪼갠다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.</a:t>
            </a:r>
          </a:p>
          <a:p>
            <a:pPr algn="l"/>
            <a:r>
              <a:rPr sz="1440" dirty="0" err="1">
                <a:solidFill>
                  <a:srgbClr val="111111"/>
                </a:solidFill>
                <a:latin typeface="Noto Sans CJK KR"/>
              </a:rPr>
              <a:t>건강한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고령층·파트타임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인력이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주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1회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현장을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확인한다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.</a:t>
            </a:r>
          </a:p>
          <a:p>
            <a:pPr algn="l"/>
            <a:endParaRPr sz="1440" dirty="0">
              <a:solidFill>
                <a:srgbClr val="111111"/>
              </a:solidFill>
              <a:latin typeface="Noto Sans CJK KR"/>
            </a:endParaRPr>
          </a:p>
          <a:p>
            <a:pPr algn="l"/>
            <a:r>
              <a:rPr sz="1440" dirty="0" err="1">
                <a:solidFill>
                  <a:srgbClr val="111111"/>
                </a:solidFill>
                <a:latin typeface="Noto Sans CJK KR"/>
              </a:rPr>
              <a:t>핵심은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부동산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거래가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아니라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,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방치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위험을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줄이는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lang="ko-KR" altLang="en-US" sz="1440" dirty="0">
                <a:solidFill>
                  <a:srgbClr val="111111"/>
                </a:solidFill>
                <a:latin typeface="Noto Sans CJK KR"/>
              </a:rPr>
              <a:t>형태를 가질 수 있도록 하는 새로운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지역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440" dirty="0" err="1">
                <a:solidFill>
                  <a:srgbClr val="111111"/>
                </a:solidFill>
                <a:latin typeface="Noto Sans CJK KR"/>
              </a:rPr>
              <a:t>일자리다</a:t>
            </a:r>
            <a:r>
              <a:rPr sz="1440" dirty="0">
                <a:solidFill>
                  <a:srgbClr val="111111"/>
                </a:solidFill>
                <a:latin typeface="Noto Sans CJK KR"/>
              </a:rPr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566928" y="536752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566928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사업 포지션: AI-powered Document + Local Work Platform — 빈집 관리 수요를 지역 일자리로 전환</a:t>
            </a:r>
            <a:endParaRPr lang="en-US" sz="1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BE6175-4EEF-0BBA-7120-642DD7CE4FA9}"/>
              </a:ext>
            </a:extLst>
          </p:cNvPr>
          <p:cNvSpPr txBox="1"/>
          <p:nvPr/>
        </p:nvSpPr>
        <p:spPr>
          <a:xfrm>
            <a:off x="503415" y="1908747"/>
            <a:ext cx="695650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sz="2500" b="1" dirty="0" err="1">
                <a:solidFill>
                  <a:srgbClr val="C1121F"/>
                </a:solidFill>
                <a:latin typeface="Noto Sans CJK KR"/>
              </a:rPr>
              <a:t>소유권·상속·서류·관리·안전</a:t>
            </a:r>
            <a:r>
              <a:rPr sz="2500" b="1" dirty="0">
                <a:solidFill>
                  <a:srgbClr val="C1121F"/>
                </a:solidFill>
                <a:latin typeface="Noto Sans CJK KR"/>
              </a:rPr>
              <a:t> </a:t>
            </a:r>
            <a:r>
              <a:rPr sz="2500" b="1" dirty="0" err="1">
                <a:solidFill>
                  <a:srgbClr val="C1121F"/>
                </a:solidFill>
                <a:latin typeface="Noto Sans CJK KR"/>
              </a:rPr>
              <a:t>리스크가</a:t>
            </a:r>
            <a:r>
              <a:rPr sz="2500" b="1" dirty="0">
                <a:solidFill>
                  <a:srgbClr val="C1121F"/>
                </a:solidFill>
                <a:latin typeface="Noto Sans CJK KR"/>
              </a:rPr>
              <a:t> </a:t>
            </a:r>
            <a:r>
              <a:rPr sz="2500" b="1" dirty="0" err="1">
                <a:solidFill>
                  <a:srgbClr val="C1121F"/>
                </a:solidFill>
                <a:latin typeface="Noto Sans CJK KR"/>
              </a:rPr>
              <a:t>얽혀</a:t>
            </a:r>
            <a:endParaRPr sz="2500" b="1" dirty="0">
              <a:solidFill>
                <a:srgbClr val="C1121F"/>
              </a:solidFill>
              <a:latin typeface="Noto Sans CJK K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255AE2-DD5D-EAF6-5A2A-4E36A4B0CA39}"/>
              </a:ext>
            </a:extLst>
          </p:cNvPr>
          <p:cNvSpPr txBox="1"/>
          <p:nvPr/>
        </p:nvSpPr>
        <p:spPr>
          <a:xfrm>
            <a:off x="6461391" y="1901725"/>
            <a:ext cx="55290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sz="2500" b="1" dirty="0" err="1">
                <a:solidFill>
                  <a:srgbClr val="111111"/>
                </a:solidFill>
                <a:latin typeface="Noto Sans CJK KR"/>
              </a:rPr>
              <a:t>누가</a:t>
            </a:r>
            <a:r>
              <a:rPr sz="25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lang="ko-KR" altLang="en-US" sz="2500" b="1" dirty="0">
                <a:solidFill>
                  <a:srgbClr val="111111"/>
                </a:solidFill>
                <a:latin typeface="Noto Sans CJK KR"/>
              </a:rPr>
              <a:t>처리할 것인가가</a:t>
            </a:r>
            <a:r>
              <a:rPr sz="25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Noto Sans CJK KR"/>
              </a:rPr>
              <a:t>병목이다</a:t>
            </a:r>
            <a:r>
              <a:rPr sz="2500" b="1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/ FOCUS SHIFT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한국보다 일본·도쿄가 메인인가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uploaded deep-research report; KOSIS 2024; Japan Housing and Land Survey 2023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한국의 빈집도 증가하지만, 수도권 핵심지역에서는 “문제형 방치 빈집”보다 일시적·거래성 공실 비중이 크다. 일본은 빈집·상속·고령층 노동수요·정책 변화가 동시에 존재한다.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82199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 8.0%</a:t>
            </a:r>
            <a:endParaRPr lang="en-US" sz="31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494263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 공식 빈집률. 단, </a:t>
            </a:r>
            <a:r>
              <a:rPr lang="en-US" sz="12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매매·임대·이사·신축·미분양</a:t>
            </a: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등의 일시 공실 포함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1982199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일본 13.8%</a:t>
            </a:r>
            <a:endParaRPr lang="en-US" sz="31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494263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 전국 빈집률. 정책적으로는 임대·매매·2차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주택</a:t>
            </a: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제외 385만 호가 핵심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1982199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 10.9%</a:t>
            </a:r>
            <a:endParaRPr lang="en-US" sz="3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2494263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수요</a:t>
            </a:r>
            <a:r>
              <a:rPr lang="ko-KR" alt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 높지만</a:t>
            </a: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2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</a:t>
            </a:r>
            <a:r>
              <a:rPr lang="ko-KR" alt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이를 상회해 </a:t>
            </a:r>
            <a:r>
              <a:rPr lang="en-US" sz="12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빈집률이</a:t>
            </a: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두</a:t>
            </a: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자릿수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072384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566928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" y="3429000"/>
            <a:ext cx="10588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한국: 빈집 통계는 아파트·거래성 공실이 섞여 있어 관리형 사업 타깃을 좁히기 어렵다.</a:t>
            </a:r>
            <a:endParaRPr lang="en-US" sz="153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904488"/>
            <a:ext cx="10588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일본: 고령화·상속·빈집법·상속등기 의무화가 이미 동시에 작동하고 있다.</a:t>
            </a:r>
            <a:endParaRPr lang="en-US" sz="153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407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4379976"/>
            <a:ext cx="10588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도쿄·세타가야: 비싼 땅 위의 오래된 집이 소유권·서류·관리 부족으로 장기 방치될 수 있다.</a:t>
            </a:r>
            <a:endParaRPr lang="en-US" sz="153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882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855464"/>
            <a:ext cx="10588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30" dirty="0" err="1">
                <a:solidFill>
                  <a:srgbClr val="111111"/>
                </a:solidFill>
                <a:latin typeface="Noto Sans CJK KR"/>
              </a:rPr>
              <a:t>따라서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MVP는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일본의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도시형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아키야에서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더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선명한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문제-해결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적합성을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30" dirty="0" err="1">
                <a:solidFill>
                  <a:srgbClr val="111111"/>
                </a:solidFill>
                <a:latin typeface="Noto Sans CJK KR"/>
              </a:rPr>
              <a:t>가진다</a:t>
            </a:r>
            <a:r>
              <a:rPr sz="1530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566928" y="536752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566928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한국은 비교/확장 대상, 일본 도쿄권은 AI 문서지원 + 지역 일자리형 빈집관리 모델의 초기 실증시장이다.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DEFINITIONS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정의: “空き家”와 “空家等”는 다르다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世田谷区 第二次空家等対策計画; 住宅・土地統計調査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 규모를 과대평가하지 않으려면 통계 단위와 행정 단위를 분리해야 한다.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66928" y="1600200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12648" y="167335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673352"/>
            <a:ext cx="8823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의미와 사업 해석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29514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612648" y="2368296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空き家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(vacant dwelling)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368296"/>
            <a:ext cx="8823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주택·토지통계조사의 “비어 있는 주거 단위”. 임대·매매·2차주택·일시 공실이 섞인다.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99008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612648" y="306324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その他の空き家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70048" y="3063240"/>
            <a:ext cx="8823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임대용·매매용·2차주택을 제외한 주거 단위. 방치·관리부족 가능성이 더 높은 정책형 지표.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68503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 txBox="1"/>
          <p:nvPr/>
        </p:nvSpPr>
        <p:spPr>
          <a:xfrm>
            <a:off x="612648" y="375818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空家等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(empty building)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70048" y="3758184"/>
            <a:ext cx="8823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지자체가 현장에서 파악하는 건물 단위의 관리 대상. 세타가야 2021년 조사 883동이 여기에 해당.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37997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12648" y="445312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가능 재고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4453128"/>
            <a:ext cx="8823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타깃은 전체 빈집이 아니라 “소유·상태·법적 조치·관리 필요성”이 확인된 좁은 집합.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074920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566928" y="536752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566928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TAM은 900만 호가 아니라,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관리·서류·안전 개입이 필요한 세분 시장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으로 재계산해야 한다.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JAPAN NATIONAL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일본 전국: 빈집은 역사적 고점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総務省統計局 令和5年住宅・土地統計調査, uploaded report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2025년 현재 사용 가능한 최신 전국 공식조사는 2023년 기준 住宅・土地統計調査다.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12055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9.002M</a:t>
            </a:r>
            <a:endParaRPr lang="en-US" sz="39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324119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2023년 일본 전국 빈집 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812055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13.8%</a:t>
            </a:r>
            <a:endParaRPr lang="en-US" sz="39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324119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주택 대비 빈집률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812055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3.85M</a:t>
            </a:r>
            <a:endParaRPr lang="en-US" sz="39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324119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임대·매매·2차주택 제외 정책형 재고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1812055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5.9%</a:t>
            </a:r>
            <a:endParaRPr lang="en-US" sz="39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2324119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 재고의 전체 주택 대비 비율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960263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364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337560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빈집 수는 “주거 수요 없음”만 의미하지 않는다. 임대·매매 시장에 올라와 있지만 비어 있는 집도 포함된다.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904488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임대·매매·2차주택을 제외한 385만 호는 관리·상속·방치 가능성이 높은 핵심 정책 집합이다.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498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471416"/>
            <a:ext cx="10588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사업에서는 전국 전체 수치보다, 이 정책형 집합에서 지자체·소유자·현장관리 업무가 발생한다.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JAPAN NATIONAL TREND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일본 전국 빈집 증가 추이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総務省統計局 住宅・土地統計調査; 2025년에는 신규 조사연도가 아니라 2023 조사 공개·정리 자료가 최신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주택·토지통계조사는 5년 단위 조사이므로, 2000~2025 범위에서는 2003~2023 공식 시계열이 핵심이다.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914400" y="4892040"/>
            <a:ext cx="10241280" cy="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592182" y="16184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빈집 수 / million dwellings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14400" y="3256515"/>
            <a:ext cx="1569720" cy="163552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914400" y="4983480"/>
            <a:ext cx="156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1998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648712" y="3020841"/>
            <a:ext cx="1569720" cy="187119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2648712" y="4983480"/>
            <a:ext cx="156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2003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383024" y="2742574"/>
            <a:ext cx="1569720" cy="214946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4383024" y="4983480"/>
            <a:ext cx="156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2008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117336" y="2563689"/>
            <a:ext cx="1569720" cy="232835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6117336" y="4983480"/>
            <a:ext cx="156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2013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851648" y="2481345"/>
            <a:ext cx="1569720" cy="241069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7851648" y="4983480"/>
            <a:ext cx="156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2018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585960" y="2335965"/>
            <a:ext cx="1569720" cy="2556075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9585960" y="4983480"/>
            <a:ext cx="156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</a:t>
            </a:r>
            <a:endParaRPr lang="en-US" sz="1020" dirty="0"/>
          </a:p>
        </p:txBody>
      </p:sp>
      <p:sp>
        <p:nvSpPr>
          <p:cNvPr id="23" name="Text 21"/>
          <p:cNvSpPr txBox="1"/>
          <p:nvPr/>
        </p:nvSpPr>
        <p:spPr>
          <a:xfrm>
            <a:off x="9585960" y="2089077"/>
            <a:ext cx="1569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9.00M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566928" y="534924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566928" y="5532119"/>
            <a:ext cx="11064240" cy="72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2003년 659만 호 → 2023년 900만 호. </a:t>
            </a:r>
            <a:r>
              <a:rPr lang="en-US" sz="172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20년간 약 241만 호 증가</a:t>
            </a:r>
            <a:r>
              <a:rPr lang="en-US" sz="17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했지만, </a:t>
            </a:r>
          </a:p>
          <a:p>
            <a:pPr marL="0" indent="0" algn="l">
              <a:buNone/>
            </a:pPr>
            <a:r>
              <a:rPr lang="en-US" sz="172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</a:t>
            </a:r>
            <a:r>
              <a:rPr lang="en-US" sz="17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타깃은 “전체 수”가 </a:t>
            </a:r>
            <a:r>
              <a:rPr lang="en-US" sz="172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아니라</a:t>
            </a:r>
            <a:r>
              <a:rPr lang="en-US" sz="17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72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</a:t>
            </a:r>
            <a:r>
              <a:rPr lang="en-US" sz="172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개입이 필요한 세분 재고다.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TARGET MARKET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900만 호가 모두 사업 대상은 아니다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総務省統計局 令和5年住宅・土地統計調査, uploaded report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빈집 플랫폼이 실패하는 흔한 이유는 “전체 빈집 수”를 그대로 시장규모로 쓰기 때문이다. 실제 시장은 반복 점검 업무 수로 다시 계산해야 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964131"/>
            <a:ext cx="3017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빈집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2009851"/>
            <a:ext cx="6173572" cy="192024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10270084" y="1998315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9.002M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604211"/>
            <a:ext cx="3017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00">
                <a:solidFill>
                  <a:srgbClr val="111111"/>
                </a:solidFill>
                <a:latin typeface="Noto Sans CJK KR"/>
              </a:rPr>
              <a:t>정책형 빈집</a:t>
            </a:r>
            <a:endParaRPr lang="en-US" sz="1300" dirty="0"/>
          </a:p>
          <a:p>
            <a:pPr algn="l"/>
            <a:r>
              <a:rPr sz="1300">
                <a:solidFill>
                  <a:srgbClr val="111111"/>
                </a:solidFill>
                <a:latin typeface="Noto Sans CJK KR"/>
              </a:rPr>
              <a:t>임대·매매·2차주택 제외</a:t>
            </a:r>
          </a:p>
        </p:txBody>
      </p:sp>
      <p:sp>
        <p:nvSpPr>
          <p:cNvPr id="13" name="Shape 11"/>
          <p:cNvSpPr/>
          <p:nvPr/>
        </p:nvSpPr>
        <p:spPr>
          <a:xfrm>
            <a:off x="4023360" y="2649931"/>
            <a:ext cx="2640330" cy="1920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6736842" y="2646941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3.85M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312659"/>
            <a:ext cx="3017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00" dirty="0" err="1">
                <a:solidFill>
                  <a:srgbClr val="111111"/>
                </a:solidFill>
                <a:latin typeface="Noto Sans CJK KR"/>
              </a:rPr>
              <a:t>주간점검</a:t>
            </a:r>
            <a:r>
              <a:rPr sz="130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00" dirty="0" err="1">
                <a:solidFill>
                  <a:srgbClr val="111111"/>
                </a:solidFill>
                <a:latin typeface="Noto Sans CJK KR"/>
              </a:rPr>
              <a:t>필요</a:t>
            </a:r>
            <a:r>
              <a:rPr sz="130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00" dirty="0" err="1">
                <a:solidFill>
                  <a:srgbClr val="111111"/>
                </a:solidFill>
                <a:latin typeface="Noto Sans CJK KR"/>
              </a:rPr>
              <a:t>재고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23360" y="3358379"/>
            <a:ext cx="960120" cy="1920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5056632" y="3355389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1.4M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884371"/>
            <a:ext cx="301752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00">
                <a:solidFill>
                  <a:srgbClr val="111111"/>
                </a:solidFill>
                <a:latin typeface="Noto Sans CJK KR"/>
              </a:rPr>
              <a:t>Akiya Manager</a:t>
            </a:r>
            <a:endParaRPr lang="en-US" sz="1300" dirty="0"/>
          </a:p>
          <a:p>
            <a:pPr algn="l"/>
            <a:r>
              <a:rPr sz="1300">
                <a:solidFill>
                  <a:srgbClr val="111111"/>
                </a:solidFill>
                <a:latin typeface="Noto Sans CJK KR"/>
              </a:rPr>
              <a:t>파일럿 대상</a:t>
            </a:r>
          </a:p>
        </p:txBody>
      </p:sp>
      <p:sp>
        <p:nvSpPr>
          <p:cNvPr id="19" name="Shape 17"/>
          <p:cNvSpPr/>
          <p:nvPr/>
        </p:nvSpPr>
        <p:spPr>
          <a:xfrm>
            <a:off x="4023360" y="3930091"/>
            <a:ext cx="745864" cy="19202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470916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050" dirty="0" err="1">
                <a:solidFill>
                  <a:srgbClr val="666666"/>
                </a:solidFill>
                <a:latin typeface="Noto Sans CJK KR"/>
              </a:rPr>
              <a:t>전국</a:t>
            </a:r>
            <a:r>
              <a:rPr sz="105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50" dirty="0" err="1">
                <a:solidFill>
                  <a:srgbClr val="666666"/>
                </a:solidFill>
                <a:latin typeface="Noto Sans CJK KR"/>
              </a:rPr>
              <a:t>통계로</a:t>
            </a:r>
            <a:r>
              <a:rPr sz="105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50" dirty="0" err="1">
                <a:solidFill>
                  <a:srgbClr val="666666"/>
                </a:solidFill>
                <a:latin typeface="Noto Sans CJK KR"/>
              </a:rPr>
              <a:t>문제의</a:t>
            </a:r>
            <a:r>
              <a:rPr sz="105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lang="ko-KR" altLang="en-US" sz="1050" dirty="0">
                <a:solidFill>
                  <a:srgbClr val="666666"/>
                </a:solidFill>
                <a:latin typeface="Noto Sans CJK KR"/>
              </a:rPr>
              <a:t>규모</a:t>
            </a:r>
            <a:r>
              <a:rPr sz="1050" dirty="0" err="1">
                <a:solidFill>
                  <a:srgbClr val="666666"/>
                </a:solidFill>
                <a:latin typeface="Noto Sans CJK KR"/>
              </a:rPr>
              <a:t>와</a:t>
            </a:r>
            <a:r>
              <a:rPr sz="105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50" dirty="0" err="1">
                <a:solidFill>
                  <a:srgbClr val="666666"/>
                </a:solidFill>
                <a:latin typeface="Noto Sans CJK KR"/>
              </a:rPr>
              <a:t>정책</a:t>
            </a:r>
            <a:r>
              <a:rPr sz="105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50" dirty="0" err="1">
                <a:solidFill>
                  <a:srgbClr val="666666"/>
                </a:solidFill>
                <a:latin typeface="Noto Sans CJK KR"/>
              </a:rPr>
              <a:t>필요성을</a:t>
            </a:r>
            <a:r>
              <a:rPr sz="1050" dirty="0">
                <a:solidFill>
                  <a:srgbClr val="666666"/>
                </a:solidFill>
                <a:latin typeface="Noto Sans CJK KR"/>
              </a:rPr>
              <a:t> </a:t>
            </a:r>
            <a:r>
              <a:rPr sz="1050" dirty="0" err="1">
                <a:solidFill>
                  <a:srgbClr val="666666"/>
                </a:solidFill>
                <a:latin typeface="Noto Sans CJK KR"/>
              </a:rPr>
              <a:t>보여준다</a:t>
            </a:r>
            <a:r>
              <a:rPr sz="1050" dirty="0">
                <a:solidFill>
                  <a:srgbClr val="666666"/>
                </a:solidFill>
                <a:latin typeface="Noto Sans CJK KR"/>
              </a:rPr>
              <a:t>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193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5166360"/>
            <a:ext cx="1049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380" dirty="0">
                <a:solidFill>
                  <a:srgbClr val="111111"/>
                </a:solidFill>
                <a:latin typeface="Noto Sans CJK KR"/>
              </a:rPr>
              <a:t>1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단계: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정책형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재고에서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관리·상속·안전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개입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가능성이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높은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집을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좁힌다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138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5778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" y="5550408"/>
            <a:ext cx="1049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380" dirty="0">
                <a:solidFill>
                  <a:srgbClr val="111111"/>
                </a:solidFill>
                <a:latin typeface="Noto Sans CJK KR"/>
              </a:rPr>
              <a:t>2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단계: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실제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방문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가능한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Akiya Manager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일감으로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380" dirty="0" err="1">
                <a:solidFill>
                  <a:srgbClr val="111111"/>
                </a:solidFill>
                <a:latin typeface="Noto Sans CJK KR"/>
              </a:rPr>
              <a:t>전환한다</a:t>
            </a:r>
            <a:r>
              <a:rPr sz="1380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138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5961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5934456"/>
            <a:ext cx="1049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ko-KR" sz="13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r>
              <a:rPr lang="en-US" sz="13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단계: 지자체 현장조사와 소유자 설문으로 관리 업무가 발생하는 집만 분리한다.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TOKYO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도쿄: 수요가 강해도 빈집은 사라지지 않는다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東京都 令和5年住宅・土地統計調査 結果の概要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도쿄는 인구·수요·임대시장이 강하지만, 2023년에도 약 89.65만 호의 빈집이 존재한다.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331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8.201M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3452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 도쿄 총주택 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8331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896,500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3452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 도쿄 빈집 수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8331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10.9%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3452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 빈집률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18331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+86,600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3452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2018 대비 증가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89864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337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310128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도쿄의 빈집 수는 1978년 대비 약 2.6배로 증가했다.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813048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주택 수·세대 수 모두 증가하지만, 1세대당 인원은 1978년 2.88명에서 2023년 1.90명으로 감소했다.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343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315968"/>
            <a:ext cx="10588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수요 부족이 </a:t>
            </a:r>
            <a:r>
              <a:rPr lang="en-US" sz="160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아니라</a:t>
            </a: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60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고령화·상속·노후</a:t>
            </a: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단독주택 관리의 조합이다.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TOKYO TREND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 빈집 수 장기 추이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東京都 令和5年住宅・土地統計調査 結果の概要 表2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단위: 만 호. 1978년 34.2만 호에서 2023년 89.7만 호로 증가했다.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749808" y="5029200"/>
            <a:ext cx="10881360" cy="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593051" y="15727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빈집 수 / 만 호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808" y="3992877"/>
            <a:ext cx="989381" cy="103632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749808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1978</a:t>
            </a:r>
            <a:endParaRPr lang="en-US" sz="770" dirty="0"/>
          </a:p>
        </p:txBody>
      </p:sp>
      <p:sp>
        <p:nvSpPr>
          <p:cNvPr id="13" name="Shape 11"/>
          <p:cNvSpPr/>
          <p:nvPr/>
        </p:nvSpPr>
        <p:spPr>
          <a:xfrm>
            <a:off x="1848917" y="3830970"/>
            <a:ext cx="989381" cy="119823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1848917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1983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2948026" y="3782762"/>
            <a:ext cx="989381" cy="124643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2948026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1988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4047134" y="3431055"/>
            <a:ext cx="989381" cy="159814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4047134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1993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5146243" y="3136045"/>
            <a:ext cx="989381" cy="189315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5146243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1998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6245352" y="3011735"/>
            <a:ext cx="989381" cy="201746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245352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2003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7344461" y="2754322"/>
            <a:ext cx="989381" cy="227487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7344461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2008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8443570" y="2551787"/>
            <a:ext cx="989381" cy="247741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8443570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2013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9542678" y="2573617"/>
            <a:ext cx="989381" cy="245558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 txBox="1"/>
          <p:nvPr/>
        </p:nvSpPr>
        <p:spPr>
          <a:xfrm>
            <a:off x="9542678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2018</a:t>
            </a:r>
            <a:endParaRPr lang="en-US" sz="770" dirty="0"/>
          </a:p>
        </p:txBody>
      </p:sp>
      <p:sp>
        <p:nvSpPr>
          <p:cNvPr id="29" name="Shape 27"/>
          <p:cNvSpPr/>
          <p:nvPr/>
        </p:nvSpPr>
        <p:spPr>
          <a:xfrm>
            <a:off x="10641787" y="2311050"/>
            <a:ext cx="989381" cy="271815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 txBox="1"/>
          <p:nvPr/>
        </p:nvSpPr>
        <p:spPr>
          <a:xfrm>
            <a:off x="10641787" y="5120640"/>
            <a:ext cx="989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</a:t>
            </a:r>
            <a:endParaRPr lang="en-US" sz="770" dirty="0"/>
          </a:p>
        </p:txBody>
      </p:sp>
      <p:sp>
        <p:nvSpPr>
          <p:cNvPr id="31" name="Text 29"/>
          <p:cNvSpPr txBox="1"/>
          <p:nvPr/>
        </p:nvSpPr>
        <p:spPr>
          <a:xfrm>
            <a:off x="10641787" y="2064162"/>
            <a:ext cx="9893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89.7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66928" y="530352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 txBox="1"/>
          <p:nvPr/>
        </p:nvSpPr>
        <p:spPr>
          <a:xfrm>
            <a:off x="566928" y="54681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도쿄는 “인기가 없어서 비는 지역”이 아니라,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강한 도시수요 속에서도 관리되지 못하는 주택 </a:t>
            </a:r>
            <a:r>
              <a:rPr lang="en-US" sz="1800" b="1" dirty="0" err="1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재고</a:t>
            </a:r>
            <a:r>
              <a:rPr lang="en-US" sz="18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계속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생기는 시장이다.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TOKYO HOUSING STRUCTURE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도쿄의 주택 구조: 공동주택 중심, 단독주택은 다른 문제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東京都 令和5年住宅・土地統計調査 結果の概要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 주택은 공동주택이 압도적으로 많지만, 빈집 관리 리스크는 오래된 단독·저층 건물에서 더 강하게 발생한다.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56816"/>
            <a:ext cx="246888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共同住宅 / 공동주택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27248" y="2002536"/>
            <a:ext cx="2095073" cy="18288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5295473" y="195681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71.6%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566416"/>
            <a:ext cx="246888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一戸建 / 단독주택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27248" y="2612136"/>
            <a:ext cx="769559" cy="182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3969959" y="256641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26.3%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176016"/>
            <a:ext cx="246888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長屋建 / 연립형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27248" y="3221736"/>
            <a:ext cx="52669" cy="1828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3253069" y="317601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1.8%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1737360"/>
            <a:ext cx="4572000" cy="0"/>
          </a:xfrm>
          <a:prstGeom prst="line">
            <a:avLst/>
          </a:prstGeom>
          <a:noFill/>
          <a:ln w="3048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 txBox="1"/>
          <p:nvPr/>
        </p:nvSpPr>
        <p:spPr>
          <a:xfrm>
            <a:off x="6720840" y="19202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사업 타깃은 “도쿄 전체 주택”이 아니다.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상속·노후·목조·저층·단독주택처럼 현장관리와 서류처리가 동시에 필요한 세그먼트다.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" y="425196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4480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 공동주택은 고층화되고 있다: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11층 이상 공동주택 비중 21.2%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 </a:t>
            </a:r>
          </a:p>
          <a:p>
            <a:pPr marL="0" indent="0" algn="l">
              <a:buNone/>
            </a:pPr>
            <a:r>
              <a:rPr lang="en-US" sz="18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반대로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오래된 저층·단독 </a:t>
            </a:r>
            <a:r>
              <a:rPr lang="en-US" sz="18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주택은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8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주체가 분산되면 문제화되기 쉽다.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TOKYO MARKET CONTEXT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도쿄는 “소유”보다 “임대”가 강한 도시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東京都 令和5年住宅・土地統計調査 結果の概要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임대 수요가 강해도 오래된 상속 주택이 즉시 임대시장에 들어오지는 않는다.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1791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44.7%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32998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 자가 주택률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181791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48.9%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32998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 임대 주택률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81791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64.02㎡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32998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전국에서 가장 작은 평균 전용면적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181791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1.90명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32998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2023년 1세대당 인원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97180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410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38328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도쿄의 주거시장은 임대 수요가 강하다.</a:t>
            </a:r>
            <a:endParaRPr lang="en-US" sz="163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5" y="3886200"/>
            <a:ext cx="109727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하지만 아키야는 바로 임대 가능한 상품이 아니다. 상태, 접도, 내진, 소유권, 상속, 세금, 수리비가 먼저 정리되어야 한다.</a:t>
            </a:r>
            <a:endParaRPr lang="en-US" sz="163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416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38912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“매칭”보다 앞단의 문서·리스크·현장관리 작업이 사업 기회다.</a:t>
            </a:r>
            <a:endParaRPr lang="en-US" sz="16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SETAGAYA CASE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세타가야구: 도쿄형 아키야 문제의 테스트베드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世田谷区 第二次空家等対策計画; e-Stat 2023 ward table; MLIT 2025 land price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세타가야는 고가 주거지이지만 빈집·상속·노후 단독주택·재난위험·고령층 일자리 수요가 동시에 나타난다.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58263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58,850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70327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 주택·토지통계조사 기준 빈집 수 / dwelling units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1758263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10.9%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270327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 빈집률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58263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883동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270327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2021 세타가야구 현장조사 空家等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1758263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¥724,100/㎡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66928" y="2907792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2918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Setagaya paradox: </a:t>
            </a:r>
            <a:r>
              <a:rPr lang="en-US" sz="23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비싼 집인데 비어 있고, 비어 있으면서도 팔리지 않는다.</a:t>
            </a: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endParaRPr lang="en-US" sz="2300" b="1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en-US" sz="23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시장</a:t>
            </a: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가격이 높을수록 오히려 </a:t>
            </a:r>
            <a:r>
              <a:rPr lang="en-US" sz="23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</a:t>
            </a: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</a:t>
            </a:r>
            <a:r>
              <a:rPr lang="ko-KR" alt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3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세금</a:t>
            </a: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</a:t>
            </a:r>
            <a:r>
              <a:rPr lang="ko-KR" alt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3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수리비</a:t>
            </a: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</a:t>
            </a:r>
            <a:r>
              <a:rPr lang="ko-KR" alt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3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</a:t>
            </a:r>
            <a:r>
              <a:rPr lang="en-US" sz="2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합의 비용도 함께 커질 수 있다.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892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666666"/>
                </a:solidFill>
                <a:latin typeface="Noto Sans CJK KR"/>
              </a:rPr>
              <a:t>世田谷区 · Urban high-value residential area · AI Local Work Platform pilot candidate</a:t>
            </a:r>
            <a:endParaRPr lang="en-US" sz="13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28F9F2E-9D81-50A3-1C02-837082C1496B}"/>
              </a:ext>
            </a:extLst>
          </p:cNvPr>
          <p:cNvSpPr txBox="1"/>
          <p:nvPr/>
        </p:nvSpPr>
        <p:spPr>
          <a:xfrm>
            <a:off x="8732520" y="22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 공시지가 평균 주거지 가격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SETAGAYA DATA LAYER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세타가야의 두 숫자: 58,850호 vs 883동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世田谷区 第二次空家等対策計画; e-Stat 2023 ward-level housing table; uploaded report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차이가 사업 설계의 핵심이다. 통계상 빈집과 실제 현장관리 대상은 단위와 의미가 다르다.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916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통계 레이어: 58,850호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69164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현장관리 레이어: 883동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075688"/>
            <a:ext cx="51663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355080" y="2075688"/>
            <a:ext cx="51663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566928" y="2221992"/>
            <a:ext cx="5166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住宅・土地統計調査 기준 “주거 </a:t>
            </a:r>
            <a:r>
              <a:rPr lang="en-US" sz="144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</a:t>
            </a: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”</a:t>
            </a:r>
          </a:p>
          <a:p>
            <a:pPr marL="0" indent="0" algn="l">
              <a:buNone/>
            </a:pPr>
            <a:endParaRPr lang="en-US" sz="1440" dirty="0"/>
          </a:p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임대·매매·일시 공실 등 다양한 </a:t>
            </a:r>
            <a:r>
              <a:rPr lang="en-US" sz="144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</a:t>
            </a: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4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포함</a:t>
            </a:r>
            <a:endParaRPr lang="en-US" sz="1440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endParaRPr lang="en-US" sz="1440" dirty="0"/>
          </a:p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도시의 문제 규모와 정책 필요성을 보여주는 수치</a:t>
            </a:r>
            <a:endParaRPr lang="en-US" sz="1440" dirty="0"/>
          </a:p>
          <a:p>
            <a:pPr marL="0" indent="0" algn="l">
              <a:buNone/>
            </a:pPr>
            <a:endParaRPr lang="en-US" sz="1440" dirty="0"/>
          </a:p>
          <a:p>
            <a:pPr marL="0" indent="0" algn="l">
              <a:buNone/>
            </a:pPr>
            <a:r>
              <a:rPr lang="en-US" sz="144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용도: 시장배경, 정책문제, 지역 우선순위 설명</a:t>
            </a:r>
            <a:endParaRPr lang="en-US" sz="1440" b="1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21992"/>
            <a:ext cx="5166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세타가야구가 현장에서 파악한 “空家等” </a:t>
            </a:r>
            <a:r>
              <a:rPr lang="en-US" sz="144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건물</a:t>
            </a:r>
            <a:endParaRPr lang="en-US" sz="1440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endParaRPr lang="en-US" sz="1440" dirty="0"/>
          </a:p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상태분류 A/B/C/D로 관리 우선순위 </a:t>
            </a:r>
            <a:r>
              <a:rPr lang="en-US" sz="144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판단</a:t>
            </a: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4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가능</a:t>
            </a:r>
            <a:endParaRPr lang="en-US" sz="1440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endParaRPr lang="en-US" sz="1440" dirty="0"/>
          </a:p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 설문·상담·개선요청·경과관찰과 직접 연결</a:t>
            </a:r>
            <a:endParaRPr lang="en-US" sz="1440" dirty="0"/>
          </a:p>
          <a:p>
            <a:pPr marL="0" indent="0" algn="l">
              <a:buNone/>
            </a:pPr>
            <a:endParaRPr lang="en-US" sz="1440" dirty="0"/>
          </a:p>
          <a:p>
            <a:pPr marL="0" indent="0" algn="l">
              <a:buNone/>
            </a:pPr>
            <a:r>
              <a:rPr lang="en-US" sz="144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용도: 실제 MVP 고객·운영 대상 선별</a:t>
            </a:r>
            <a:endParaRPr lang="en-US" sz="1440" b="1" dirty="0"/>
          </a:p>
        </p:txBody>
      </p:sp>
      <p:sp>
        <p:nvSpPr>
          <p:cNvPr id="15" name="Shape 13"/>
          <p:cNvSpPr/>
          <p:nvPr/>
        </p:nvSpPr>
        <p:spPr>
          <a:xfrm>
            <a:off x="566928" y="536752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566928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AI는 통계 레이어를 실제 방문 가능한 주간 일감으로 바꾸는 triage engine이어야 한다.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SETAGAYA TREND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 빈집 수 추이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世田谷区 第二次空家等対策計画; 2023 e-Stat ward-level data via uploaded report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1988년 30,270호 → 2018년 50,250호 → 2023년 약 58,850호. 고가 주거지에서도 증가 추세가 보인다.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868680" y="4937760"/>
            <a:ext cx="10424160" cy="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563879" y="157276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빈집 수 / dwelling units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68680" y="3576137"/>
            <a:ext cx="1183005" cy="1361623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868680" y="5029200"/>
            <a:ext cx="1183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1988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88845" y="3161398"/>
            <a:ext cx="1183005" cy="177636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2188845" y="5029200"/>
            <a:ext cx="1183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1993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09010" y="3262159"/>
            <a:ext cx="1183005" cy="16756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3509010" y="5029200"/>
            <a:ext cx="1183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1998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29175" y="3221675"/>
            <a:ext cx="1183005" cy="171608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4829175" y="5029200"/>
            <a:ext cx="1183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9340" y="3372816"/>
            <a:ext cx="1183005" cy="156494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6149340" y="5029200"/>
            <a:ext cx="1183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2008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69505" y="2571676"/>
            <a:ext cx="1183005" cy="23660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7469505" y="5029200"/>
            <a:ext cx="1183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789670" y="2677385"/>
            <a:ext cx="1183005" cy="226037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8789670" y="5029200"/>
            <a:ext cx="1183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2018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109835" y="2290535"/>
            <a:ext cx="1183005" cy="2647225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10109835" y="5029200"/>
            <a:ext cx="1183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109835" y="2043647"/>
            <a:ext cx="11830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58,850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" y="527608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세타가야는 지방형 “저가 빈집”이 아니라,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도시형 고가·장기방치 빈집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 실증 사례다.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FIELD SURVEY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 현장조사: 883동의 상태 분류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世田谷区 第二次空家等対策計画, 令和3年度 空家等実態調査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세타가야구는 빈집을 단순히 세지 않고, 현장 상태에 따라 A/B/C/D로 분류했다.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96466"/>
            <a:ext cx="23774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著しく管理不全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35808" y="1942186"/>
            <a:ext cx="11305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3120265" y="189646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2동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445106"/>
            <a:ext cx="23774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管理不全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35808" y="2490826"/>
            <a:ext cx="881814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3990774" y="244510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156동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2993746"/>
            <a:ext cx="23774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管理不全予備軍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35808" y="3039466"/>
            <a:ext cx="1192710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4301670" y="299374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211동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542386"/>
            <a:ext cx="23774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 良好な状態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35808" y="3588106"/>
            <a:ext cx="2905464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6014424" y="354238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514동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60920" y="1783080"/>
            <a:ext cx="4023360" cy="0"/>
          </a:xfrm>
          <a:prstGeom prst="line">
            <a:avLst/>
          </a:prstGeom>
          <a:noFill/>
          <a:ln w="3048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7360920" y="1965960"/>
            <a:ext cx="4270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AI의 첫 </a:t>
            </a:r>
            <a:r>
              <a:rPr lang="en-US" sz="17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번째</a:t>
            </a: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7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역할은</a:t>
            </a:r>
            <a:endParaRPr lang="en-US" sz="1700" b="1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endParaRPr lang="en-US" sz="1700" b="1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en-US" sz="1700" b="1" dirty="0" err="1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</a:t>
            </a:r>
            <a:r>
              <a:rPr lang="en-US" sz="170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700" b="1" dirty="0" err="1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위험한</a:t>
            </a:r>
            <a:r>
              <a:rPr lang="en-US" sz="1700" b="1" dirty="0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700" b="1" dirty="0" err="1">
                <a:solidFill>
                  <a:srgbClr val="FF00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빈집</a:t>
            </a:r>
            <a:r>
              <a:rPr lang="en-US" sz="17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만</a:t>
            </a: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찾는 것이 아니다.</a:t>
            </a:r>
            <a:endParaRPr lang="en-US" sz="1700" dirty="0"/>
          </a:p>
          <a:p>
            <a:pPr marL="0" indent="0" algn="l">
              <a:buNone/>
            </a:pPr>
            <a:endParaRPr lang="en-US" sz="1700" b="1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 </a:t>
            </a:r>
            <a:r>
              <a:rPr lang="en-US" sz="17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상태의</a:t>
            </a: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7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집이</a:t>
            </a:r>
            <a:r>
              <a:rPr lang="ko-KR" alt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-&gt;</a:t>
            </a: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B/C로 악화되기 </a:t>
            </a:r>
            <a:r>
              <a:rPr lang="en-US" sz="17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전에</a:t>
            </a: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endParaRPr lang="en-US" sz="1700" b="1" dirty="0">
              <a:solidFill>
                <a:srgbClr val="111111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buNone/>
            </a:pPr>
            <a:r>
              <a:rPr lang="en-US" sz="17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정기점검과</a:t>
            </a: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소유자 의사결정을 돕는 것이다.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4370832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566928" y="5093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5065776"/>
            <a:ext cx="1049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C: 방치가 진행되면 관리불전으로 넘어갈 수 있는 예방 대상</a:t>
            </a:r>
            <a:endParaRPr lang="en-US" sz="143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477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" y="5449824"/>
            <a:ext cx="1049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D: 현재는 양호하지만 소유자 부재·상속·원거리 관리 문제가 생기면 위험화될 수 있는 재고</a:t>
            </a:r>
            <a:endParaRPr lang="en-US" sz="143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2497669F-DF21-B797-1FE1-656AEE8BCC55}"/>
              </a:ext>
            </a:extLst>
          </p:cNvPr>
          <p:cNvSpPr txBox="1"/>
          <p:nvPr/>
        </p:nvSpPr>
        <p:spPr>
          <a:xfrm>
            <a:off x="566928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389D4016-9476-5F05-3DA3-1557A7530514}"/>
              </a:ext>
            </a:extLst>
          </p:cNvPr>
          <p:cNvSpPr txBox="1"/>
          <p:nvPr/>
        </p:nvSpPr>
        <p:spPr>
          <a:xfrm>
            <a:off x="859536" y="4681728"/>
            <a:ext cx="10497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A/B: 행정 조치·개선요청·즉시 위험관리 후보</a:t>
            </a:r>
            <a:endParaRPr lang="en-US" sz="14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SPATIAL PATTERN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 빈집은 “한 곳”이 아니라 거의 전역에 분포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世田谷区 第二次空家等対策計画 p.9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현장조사 결과, 空家等 883동은 구내 거의 전역에 분포하며 일부 지역에서 다소 집중된다.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44595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深沢・奥沢・等々力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762883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Fukasawa · Okusawa · Todoroki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76288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고급 주거지와 노후 단독주택이 공존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566928" y="2274947"/>
            <a:ext cx="1069848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566928" y="2613275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世田谷・太子堂・若林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631563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Setagaya · Taishido · Wakabayashi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63156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도심 접근성과 오래된 주거지가 겹침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566928" y="3143627"/>
            <a:ext cx="1069848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566928" y="3481955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成城・喜多見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3500243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Seijo · Kitami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350024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서부 주거지, 상속·대형 대지 가능성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566928" y="4012307"/>
            <a:ext cx="1069848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4350635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若林・太子堂・祖師谷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4368923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Wakabayashi · Taishido · Soshigaya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368923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밀도 분석에서 상대적으로 높게 나타남</a:t>
            </a:r>
            <a:endParaRPr lang="en-US" sz="1330" dirty="0"/>
          </a:p>
        </p:txBody>
      </p:sp>
      <p:sp>
        <p:nvSpPr>
          <p:cNvPr id="24" name="Shape 22"/>
          <p:cNvSpPr/>
          <p:nvPr/>
        </p:nvSpPr>
        <p:spPr>
          <a:xfrm>
            <a:off x="566928" y="4880987"/>
            <a:ext cx="1069848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566928" y="530352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566928" y="54681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전체에 퍼진 문제는 “대규모 개발”보다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초소형 현장관리 네트워크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 더 적합하다.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RISK MAP LOGIC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상관: 오래된 건물·고령 가구·재난위험이 겹친다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世田谷区 第二次空家等対策計画 분석결과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세타가야구의 분석은 빈집 밀도가 몇 가지 구조적 위험과 함께 움직인다는 점을 보여준다.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3396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73396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구축·旧耐震 건물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70248" y="175225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1981년 5월 이전 착공 건물이 많은 지역에서 空家等 밀도가 높게 나타남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66928" y="2191162"/>
            <a:ext cx="1069848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566928" y="248377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48377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장기 거주 인구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70248" y="250205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20년 이상 거주 비율이 높은 지역에서 빈집 밀도가 높아지는 경향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566928" y="2940970"/>
            <a:ext cx="1069848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566928" y="323357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323357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고령자 세대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70248" y="325186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65세 이상 세대수와 空家等 수 사이에 일정한 상관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566928" y="3690778"/>
            <a:ext cx="1069848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398338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398338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종합위험도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270248" y="400167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일부 空家等 다발 지역은 건물 붕괴·연소 위험도가 높은 지역과 겹침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566928" y="4440586"/>
            <a:ext cx="1069848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566928" y="4892040"/>
            <a:ext cx="10698480" cy="0"/>
          </a:xfrm>
          <a:prstGeom prst="line">
            <a:avLst/>
          </a:prstGeom>
          <a:noFill/>
          <a:ln w="3048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566928" y="50749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 빈집 관리는 부동산 서비스가 아니라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재난·안전·노후주택 관리 인프라에 가깝다.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OWNER INSIGHT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소유자의 고령화와 원거리 거주는 지역 대리점검 수요를 만든다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世田谷区 第二次空家等対策計画 所有者アンケート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 소유자 설문은 빈집이 “사람의 의사결정 문제”라는 점을 보여준다.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60810"/>
            <a:ext cx="2194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27.8%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21668"/>
            <a:ext cx="21945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응답자 60대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660810"/>
            <a:ext cx="2194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27.8%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121668"/>
            <a:ext cx="21945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응답자 70대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60810"/>
            <a:ext cx="2194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14.6%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121668"/>
            <a:ext cx="21945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응답자 80대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1660810"/>
            <a:ext cx="21945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26.6%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2121668"/>
            <a:ext cx="21945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도쿄도 외 거주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8892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288182"/>
            <a:ext cx="2834640" cy="32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 내 거주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93008" y="3333902"/>
            <a:ext cx="2338426" cy="1554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5904586" y="3314309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41.1%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806342"/>
            <a:ext cx="2834640" cy="32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도쿄도 내, 세타가야구 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93008" y="3852062"/>
            <a:ext cx="1729638" cy="1554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566928" y="4324502"/>
            <a:ext cx="2834640" cy="32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도쿄도 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93008" y="4370222"/>
            <a:ext cx="1513434" cy="15544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5079594" y="4359337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26.6%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3182112"/>
            <a:ext cx="4206240" cy="0"/>
          </a:xfrm>
          <a:prstGeom prst="line">
            <a:avLst/>
          </a:prstGeom>
          <a:noFill/>
          <a:ln w="3048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 txBox="1"/>
          <p:nvPr/>
        </p:nvSpPr>
        <p:spPr>
          <a:xfrm>
            <a:off x="7315200" y="3364992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소유자가 멀리 살거나 고령일수록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“서류를 읽고, 현장을 확인하고, </a:t>
            </a:r>
          </a:p>
          <a:p>
            <a:pPr marL="0" indent="0" algn="l">
              <a:buNone/>
            </a:pPr>
            <a:r>
              <a:rPr lang="en-US" sz="17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전문가를</a:t>
            </a:r>
            <a:r>
              <a:rPr lang="en-US" sz="1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고르는 비용”이 커진다.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 txBox="1"/>
          <p:nvPr/>
        </p:nvSpPr>
        <p:spPr>
          <a:xfrm>
            <a:off x="566928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소유자에게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언어·서류·절차·판단 비용을 낮춰주는 인터페이스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 되어야 한다.</a:t>
            </a:r>
            <a:endParaRPr lang="en-US" sz="1800" dirty="0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EB22CB04-B7BB-7A7D-2309-A3C7D935C61E}"/>
              </a:ext>
            </a:extLst>
          </p:cNvPr>
          <p:cNvSpPr txBox="1"/>
          <p:nvPr/>
        </p:nvSpPr>
        <p:spPr>
          <a:xfrm>
            <a:off x="5295798" y="3832469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30.4%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INHERITANCE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상속은 미래 리스크가 아니라 이미 진행 중인 병목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世田谷区 第二次空家等対策計画; 法務省 相続登記義務化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 설문에서 향후 상속자가 “있다”는 응답이 다수였다. 상속은 빈집을 만들고, 빈집 처리를 늦춘다.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64201"/>
            <a:ext cx="27432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63.3%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401868"/>
            <a:ext cx="274320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향후 상속자가 있음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864201"/>
            <a:ext cx="25603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17.1%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401868"/>
            <a:ext cx="25603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모름 / 불확실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1864201"/>
            <a:ext cx="21945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3년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401868"/>
            <a:ext cx="21945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상속을 안 </a:t>
            </a:r>
            <a:r>
              <a:rPr lang="en-US" sz="12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날부터</a:t>
            </a: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등기</a:t>
            </a: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신청 기한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64201"/>
            <a:ext cx="22860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sz="4200" b="1">
                <a:solidFill>
                  <a:srgbClr val="111111"/>
                </a:solidFill>
                <a:latin typeface="Noto Sans CJK KR"/>
              </a:rPr>
              <a:t>¥100k 이하</a:t>
            </a:r>
            <a:endParaRPr lang="en-US" sz="4200" dirty="0"/>
          </a:p>
        </p:txBody>
      </p:sp>
      <p:sp>
        <p:nvSpPr>
          <p:cNvPr id="16" name="Text 14"/>
          <p:cNvSpPr txBox="1"/>
          <p:nvPr/>
        </p:nvSpPr>
        <p:spPr>
          <a:xfrm>
            <a:off x="9143999" y="2401868"/>
            <a:ext cx="2499055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200">
                <a:solidFill>
                  <a:srgbClr val="666666"/>
                </a:solidFill>
                <a:latin typeface="Noto Sans CJK KR"/>
              </a:rPr>
              <a:t>정당한 사유 없이</a:t>
            </a:r>
          </a:p>
          <a:p>
            <a:pPr algn="l"/>
            <a:r>
              <a:rPr sz="1200">
                <a:solidFill>
                  <a:srgbClr val="666666"/>
                </a:solidFill>
                <a:latin typeface="Noto Sans CJK KR"/>
              </a:rPr>
              <a:t>신청을 게을리하면 過料</a:t>
            </a:r>
          </a:p>
        </p:txBody>
      </p:sp>
      <p:sp>
        <p:nvSpPr>
          <p:cNvPr id="17" name="Shape 15"/>
          <p:cNvSpPr/>
          <p:nvPr/>
        </p:nvSpPr>
        <p:spPr>
          <a:xfrm>
            <a:off x="566928" y="306324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483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456432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상속인이 여러 명이면 합의·등기·처분의 시간이 길어진다.</a:t>
            </a:r>
            <a:endParaRPr lang="en-US" sz="158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959352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 불명·상속 미등기는 행정 조치와 매매·임대·철거를 모두 어렵게 만든다.</a:t>
            </a:r>
            <a:endParaRPr lang="en-US" sz="158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489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462272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80">
                <a:solidFill>
                  <a:srgbClr val="111111"/>
                </a:solidFill>
                <a:latin typeface="Noto Sans CJK KR"/>
              </a:rPr>
              <a:t>2024년 상속등기 의무화는 소유자에게 “해야 할 일”을 늘리는 동시에, AI 문서지원과 전문가 연결 수요를 만든다.</a:t>
            </a:r>
            <a:endParaRPr lang="en-US" sz="15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CAUSE OF VACANCY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비게 되는가: 사망·상속·시설입소·임차인 퇴거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世田谷区 第二次空家等対策計画 所有者アンケート Q12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 설문에서 빈집화의 주요 계기는 “거주자의 사망/상속”과 “요양시설·입원”이었다.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16934"/>
            <a:ext cx="42976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거주자 사망 후 상속, 다른 주거 보유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4956048" y="1962654"/>
            <a:ext cx="5047488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10076688" y="195177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27.6%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465574"/>
            <a:ext cx="42976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요양시설 입소 또는 입원</a:t>
            </a:r>
            <a:endParaRPr lang="en-US" sz="1210" dirty="0"/>
          </a:p>
        </p:txBody>
      </p:sp>
      <p:sp>
        <p:nvSpPr>
          <p:cNvPr id="13" name="Shape 11"/>
          <p:cNvSpPr/>
          <p:nvPr/>
        </p:nvSpPr>
        <p:spPr>
          <a:xfrm>
            <a:off x="4956048" y="2511294"/>
            <a:ext cx="4005072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9034272" y="250041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21.9%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014214"/>
            <a:ext cx="42976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임차인 퇴거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4956048" y="3059934"/>
            <a:ext cx="3657600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8686800" y="304905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20%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562854"/>
            <a:ext cx="42976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 문제로 소유자 미결정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4956048" y="3608574"/>
            <a:ext cx="877824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5907024" y="359769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4.8%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111494"/>
            <a:ext cx="429768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노후화로 거주 곤란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4956048" y="4157214"/>
            <a:ext cx="347472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 txBox="1"/>
          <p:nvPr/>
        </p:nvSpPr>
        <p:spPr>
          <a:xfrm>
            <a:off x="5376672" y="414633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1.9%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81888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566928" y="4983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문제는 “집이 비었다”가 아니라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가족·고령자·상속·돌봄 전환 이후의 주택 운영 공백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이다.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DURATION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얼마나 오래 멈춰 있는가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世田谷区 第二次空家等対策計画 所有者アンケート Q11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 중단 기간이 길어질수록 수리비·붕괴위험·소유자 의사결정 비용이 증가한다.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41018"/>
            <a:ext cx="26517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1년 미만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0128" y="1786738"/>
            <a:ext cx="2484973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5868253" y="177585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8.6%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289658"/>
            <a:ext cx="26517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1~3년 미만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10128" y="2335378"/>
            <a:ext cx="6877020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10260300" y="232449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23.8%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2838298"/>
            <a:ext cx="26517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3~5년 미만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0128" y="2884018"/>
            <a:ext cx="3843040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7226320" y="287313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13.3%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386938"/>
            <a:ext cx="26517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5~10년 미만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10128" y="3432658"/>
            <a:ext cx="6877020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10260300" y="342177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23.8%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935578"/>
            <a:ext cx="26517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10년 이상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10128" y="3981298"/>
            <a:ext cx="5230002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 txBox="1"/>
          <p:nvPr/>
        </p:nvSpPr>
        <p:spPr>
          <a:xfrm>
            <a:off x="8613282" y="397041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18.1%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800600"/>
            <a:ext cx="10789920" cy="0"/>
          </a:xfrm>
          <a:prstGeom prst="line">
            <a:avLst/>
          </a:prstGeom>
          <a:noFill/>
          <a:ln w="3048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566928" y="4983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5년 이상 방치된 집이 많다는 것은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</a:t>
            </a:r>
            <a:r>
              <a:rPr lang="ko-KR" alt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시기를 놓치면 </a:t>
            </a:r>
            <a:r>
              <a:rPr lang="en-US" sz="20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시장에</a:t>
            </a: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돌아오</a:t>
            </a:r>
            <a:r>
              <a:rPr lang="ko-KR" alt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 매우 힘들다</a:t>
            </a:r>
            <a:r>
              <a:rPr lang="en-US" sz="2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”는 뜻이다.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PROPERTY CONDITION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상태는 “폐가”와 “즉시 활용” 사이에 넓게 분포한다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世田谷区 第二次空家等対策計画 所有者アンケート Q13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세타가야의 빈집 중 상당수는 바로 폐기 대상이 아니라, 수리·청소·관리 수준에 따라 다시 사용할 수 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19916"/>
            <a:ext cx="37490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즉시 거주 가능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407408" y="1865636"/>
            <a:ext cx="2328062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6808622" y="18547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15.2%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368556"/>
            <a:ext cx="37490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경미한 수리·정리 후 거주 가능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407408" y="2414276"/>
            <a:ext cx="5529148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10009708" y="240339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36.1%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2917196"/>
            <a:ext cx="37490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대규모 수리 필요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407408" y="2962916"/>
            <a:ext cx="4257904" cy="16459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8738464" y="295203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27.8%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465836"/>
            <a:ext cx="37490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거주 곤란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407408" y="3511556"/>
            <a:ext cx="1255928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5736488" y="35006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8.2%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014476"/>
            <a:ext cx="37490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파악하지 못함 / 기타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4407408" y="4060196"/>
            <a:ext cx="1072134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 txBox="1"/>
          <p:nvPr/>
        </p:nvSpPr>
        <p:spPr>
          <a:xfrm>
            <a:off x="5552694" y="404931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72744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566928" y="4892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“철거/매매/임대”를 바로 결정하지 </a:t>
            </a:r>
            <a:r>
              <a:rPr lang="en-US" sz="18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말고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</a:t>
            </a:r>
            <a:r>
              <a:rPr lang="ko-KR" alt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보고된 자료로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수리 수준과 위험도를 먼저 분류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해야 한다.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OWNER PAIN POINTS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소유자는 ‘돈’보다 ‘다음 행동’을 모른다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世田谷区 第二次空家等対策計画 所有者アンケート Q14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설문은 소유자가 단순히 돈이 없어서가 아니라, 절차·심리·전문가 탐색·가족합의에서 막힌다는 점을 보여준다.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5909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相談先がわからない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182590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14.6%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145949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전문가 종류가 많아 상담처를 모름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594005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6099048" y="1825909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相談費用が不安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19488" y="182590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17.1%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099048" y="2145949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 비용이 얼마인지 불안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9048" y="2594005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566928" y="2941477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年齢・身体的理由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87368" y="294147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18.4%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261517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나이·신체적 이유로 관리 어려움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709573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6099048" y="2941477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遠方居住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19488" y="294147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11.4%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099048" y="3261517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멀리 살아 유지관리 어려움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99048" y="3709573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566928" y="4057045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相続関係者合意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087368" y="405704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9.5%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4377085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 관계자 합의 어려움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825141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6099048" y="4057045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どうしたらよいかわからない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619488" y="405704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29.7%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4377085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해야 할지 모름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099048" y="4825141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31"/>
          <p:cNvSpPr/>
          <p:nvPr/>
        </p:nvSpPr>
        <p:spPr>
          <a:xfrm>
            <a:off x="566928" y="521208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4" name="Text 32"/>
          <p:cNvSpPr txBox="1"/>
          <p:nvPr/>
        </p:nvSpPr>
        <p:spPr>
          <a:xfrm>
            <a:off x="566928" y="53766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AI의 가장 강한 가치: 복잡함을 “다음 행동”으로 번역하고, 그 다음 행동 중 현장 업무는 지역 일자리로 연결하는 것.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PRICE PARADOX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 역설: 비싸서 해결되지 않는 빈집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国土交通省 令和7年地価公示; LIFULL HOME'S; uploaded report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세타가야의 빈집은 지방처럼 “싸서 방치”되는 것이 아니라, 비싸고 복잡해서 움직이지 못하는 경우가 생긴다.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45869"/>
            <a:ext cx="3108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¥724,100/㎡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409139"/>
            <a:ext cx="31089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 2025 평균 주거지 공시지가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88212" y="1845869"/>
            <a:ext cx="31089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¥1,440,000/㎡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088212" y="2409139"/>
            <a:ext cx="31089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세타가야구 최고 표준지 가격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09719" y="1845869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¥109M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485321" y="2409139"/>
            <a:ext cx="177031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150㎡ 토지 기준 단순 추정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771322" y="1845869"/>
            <a:ext cx="1645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¥216M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579931" y="2409139"/>
            <a:ext cx="1981037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최고 표준지 150㎡ 단순 추정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06324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456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42900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청년층·일반 창업자가 매입하기 어려운 가격대다.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593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93192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상속인은 비싸게 팔고 싶지만, 노후·접도·등기·가족합의·수리비 때문에 시장에 내기 어렵다.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43484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가격이 높을수록 세금·수리·철거·합의 비용도 커져 의사결정이 지연된다.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MARKET SNAPSHOT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</a:t>
            </a: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9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시장</a:t>
            </a: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: </a:t>
            </a:r>
            <a:r>
              <a:rPr lang="en-US" sz="29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토지</a:t>
            </a: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</a:t>
            </a:r>
            <a:r>
              <a:rPr lang="ko-KR" alt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9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단독주택</a:t>
            </a:r>
            <a:r>
              <a:rPr lang="ko-KR" alt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</a:t>
            </a:r>
            <a:r>
              <a:rPr lang="ko-KR" alt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900" b="1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월세</a:t>
            </a: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모두 높다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国土交通省 令和7年地価公示; LIFULL HOME'S price/rent pages, accessed 2026-06-04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시장 수요는 강하지만, 아키야는 상품화 이전 단계의 문제를 안고 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41904"/>
            <a:ext cx="2468880" cy="4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토지 100㎡ 평균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3127248" y="1987624"/>
            <a:ext cx="2024773" cy="21031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5225173" y="197674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9743만엔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2642944"/>
            <a:ext cx="2468880" cy="4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중고 단독 100㎡ 평균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3127248" y="2688664"/>
            <a:ext cx="2154035" cy="210312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5354435" y="26777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10365만엔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43984"/>
            <a:ext cx="2468880" cy="43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築20年以上 단독 100㎡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3127248" y="3389704"/>
            <a:ext cx="1972402" cy="21031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5172802" y="337882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9491만엔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1896549"/>
            <a:ext cx="118872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63840" y="1942269"/>
            <a:ext cx="920461" cy="15361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8857453" y="1896549"/>
            <a:ext cx="685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11.01만엔/월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408613"/>
            <a:ext cx="118872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863840" y="2454333"/>
            <a:ext cx="937182" cy="153619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 txBox="1"/>
          <p:nvPr/>
        </p:nvSpPr>
        <p:spPr>
          <a:xfrm>
            <a:off x="8874174" y="2408613"/>
            <a:ext cx="685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11.21만엔/월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2920677"/>
            <a:ext cx="118872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1LDK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63840" y="2966397"/>
            <a:ext cx="1569215" cy="153619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9506207" y="2920677"/>
            <a:ext cx="685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18.77만엔/월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432741"/>
            <a:ext cx="118872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2LDK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63840" y="3478461"/>
            <a:ext cx="2156939" cy="153619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10093931" y="3432741"/>
            <a:ext cx="685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25.8만엔/월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3944805"/>
            <a:ext cx="118872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3LDK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63840" y="3990525"/>
            <a:ext cx="2731287" cy="153619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Text 30"/>
          <p:cNvSpPr txBox="1"/>
          <p:nvPr/>
        </p:nvSpPr>
        <p:spPr>
          <a:xfrm>
            <a:off x="10668279" y="3944805"/>
            <a:ext cx="685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32.67만엔/월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458724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LIFULL HOME'S 수치는 민간 포털의 최근 3개월·주간/월간 업데이트 기반 참고지표이며, 공식 장기통계가 아니다.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509320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5" name="Text 33"/>
          <p:cNvSpPr txBox="1"/>
          <p:nvPr/>
        </p:nvSpPr>
        <p:spPr>
          <a:xfrm>
            <a:off x="566928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고가 시장에서 필요한 것은 저가 매물 발굴보다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상품화 전 단계의 리스크 제거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MARKET FAILURE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시장이 알아서 해결하지 못하는가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総務省統計局 住宅・土地統計調査, 東京都 令和5年住宅・土地統計調査, 世田谷区 第二次空家等対策計画, 国交省, 法務省, LIFULL HOME'S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세타가야의 빈집은 수요가 없어서가 아니라, 거래·활용 전에 풀어야 할 마찰이 너무 많아서 남는다.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5219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소유권 불명확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1970481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상속등기 지연, 상속인 다수, </a:t>
            </a:r>
            <a:r>
              <a:rPr lang="en-US" sz="122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가족</a:t>
            </a:r>
            <a:r>
              <a:rPr lang="ko-KR" alt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22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합의</a:t>
            </a: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실패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66928" y="2537409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6099048" y="195219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서류 복잡성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110728" y="1970481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등기부, 고정자산세, 접도, </a:t>
            </a:r>
            <a:r>
              <a:rPr lang="en-US" sz="122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건축기준</a:t>
            </a: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122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철거</a:t>
            </a: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</a:t>
            </a:r>
            <a:r>
              <a:rPr lang="ko-KR" alt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</a:t>
            </a:r>
            <a:r>
              <a:rPr lang="en-US" sz="122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보수</a:t>
            </a: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허가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6099048" y="2537409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566928" y="291231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부재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2578608" y="2930601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소유자가 구 외부·도쿄 외부 거주, </a:t>
            </a:r>
          </a:p>
          <a:p>
            <a:pPr marL="0" indent="0" algn="l">
              <a:buNone/>
            </a:pPr>
            <a:r>
              <a:rPr lang="en-US" sz="1220" dirty="0" err="1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고령으로</a:t>
            </a: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직접 점검 어려움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66928" y="3497529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6099048" y="291231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물리적 위험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110728" y="2930601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旧耐震, 외벽·지붕 낙하, 화재·붕괴·위생 문제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099048" y="3497529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387243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심리적 저항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2578608" y="3890721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가족 추억, 짐 처리, 임대/매각에 대한 불안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66928" y="4457649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6099048" y="387243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비용 불확실성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8110728" y="3890721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철거·수리·상담·세금이 얼마인지 모름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099048" y="4457649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66928" y="4983480"/>
            <a:ext cx="10789920" cy="0"/>
          </a:xfrm>
          <a:prstGeom prst="line">
            <a:avLst/>
          </a:prstGeom>
          <a:noFill/>
          <a:ln w="3048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 txBox="1"/>
          <p:nvPr/>
        </p:nvSpPr>
        <p:spPr>
          <a:xfrm>
            <a:off x="566928" y="51663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2000" b="1">
                <a:solidFill>
                  <a:srgbClr val="111111"/>
                </a:solidFill>
                <a:latin typeface="Noto Sans CJK KR"/>
              </a:rPr>
              <a:t>사업의 핵심은 “빈집을 찾는 것”이 아니라,</a:t>
            </a:r>
            <a:endParaRPr lang="en-US" sz="2000" dirty="0"/>
          </a:p>
          <a:p>
            <a:pPr algn="l"/>
            <a:r>
              <a:rPr sz="2000" b="1">
                <a:solidFill>
                  <a:srgbClr val="111111"/>
                </a:solidFill>
                <a:latin typeface="Noto Sans CJK KR"/>
              </a:rPr>
              <a:t>서류·위험·현장점검을 연결해 안전하게 관리 가능한 상태로 유지하는 과정이다.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URBAN RISK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방치 빈집의 위험 사슬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国土交通省 空き家対策特設サイト; 世田谷区 第二次空家等対策計画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국토교통성은 빈집 방치 리스크로 붕괴, 외벽 낙하, 해충, 경관 악화, 악취, 불법침입 등을 제시한다.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68877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5292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방치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73549"/>
            <a:ext cx="1911096" cy="63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 고령·원거리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 미정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수리비 불확실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560320" y="3144365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2761488" y="2668877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305292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열화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473549"/>
            <a:ext cx="1911096" cy="63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누수·환기부족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외벽·지붕 손상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잡초·해충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754880" y="3144365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4956048" y="2668877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305292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 리스크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473549"/>
            <a:ext cx="1911096" cy="63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불법침입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방화 우려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쓰레기·악취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949440" y="3144365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7150608" y="2668877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305292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재난 리스크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473549"/>
            <a:ext cx="1911096" cy="63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旧耐震·목조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지진 시 붕괴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화재 연소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144000" y="3144365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9345168" y="2668877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3052925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행정 부담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3473549"/>
            <a:ext cx="1911096" cy="634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 추적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지도·권고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민원 대응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66928" y="523036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정기점검과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조기개입은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재난·범죄·민원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비용을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낮추는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동시에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,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지역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주민에게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반복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가능한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일자리를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만든다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POLICY TIMELINE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타임라인: 일본은 “관리 책임”을 강화하고 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国土交通省; 法務省; 世田谷区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정책 변화는 소유자에게 문서 업무를, 지자체에는 현장 확인 업무를 만든다. 이 반복 업무가 AI와 지역 일자리의 수요다.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201401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2015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2686033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空家等対策特別措置法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본격 시행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67128" y="2365993"/>
            <a:ext cx="384048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2715768" y="2201401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24328" y="2686033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世田谷区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現地調査 883동 파악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2365993"/>
            <a:ext cx="384048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4864608" y="2201401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2023.12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2686033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改正空家法 시행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管理不全空家等 신설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64808" y="2365993"/>
            <a:ext cx="384048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7013448" y="2201401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2024.04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22008" y="2686033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相続登記義務化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3년 내 신청 의무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13648" y="2365993"/>
            <a:ext cx="384048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9162288" y="2201401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686033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지자체별 관리·활용 정책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데이터·상담·조치 강화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88620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566928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" y="42519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>
                <a:solidFill>
                  <a:srgbClr val="111111"/>
                </a:solidFill>
                <a:latin typeface="Noto Sans CJK KR"/>
              </a:rPr>
              <a:t>정책 변화는 AI 문서지원 수요와 지자체 위탁형 현장 모니터링 수요를 동시에 만든다.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36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" y="47091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상속등기 의무화는 소유권 정리와 서류 처리 수요를 직접적으로 늘린다.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193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" y="51663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지자체는 소유자 조사, 권고, 명령, 현장 확인, 민원 대응을 더 체계적으로 해야 한다.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REVISED AKIYA LAW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2023 개정 空家法: “관리불전” 단계에서 개입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国土交通省 空家等対策の推進に関する特別措置法 改正, 2023-12-13 시행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변화는 완전히 위험해진 후가 아니라, 관리가 부족한 단계에서 지자체가 움직일 수 있게 된 점이다.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12648" y="162763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162763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지자체 조치와 사업 기회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17627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612648" y="224942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情報把握</a:t>
            </a:r>
            <a:endParaRPr lang="en-US" sz="1240" dirty="0"/>
          </a:p>
        </p:txBody>
      </p:sp>
      <p:sp>
        <p:nvSpPr>
          <p:cNvPr id="14" name="Text 12"/>
          <p:cNvSpPr txBox="1"/>
          <p:nvPr/>
        </p:nvSpPr>
        <p:spPr>
          <a:xfrm>
            <a:off x="2807208" y="2249424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확인, 소유자 조사, 민원 데이터 정리 → AI 데이터 통합/우선순위화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566928" y="279806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612648" y="287121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助言・指導</a:t>
            </a:r>
            <a:endParaRPr lang="en-US" sz="1240" dirty="0"/>
          </a:p>
        </p:txBody>
      </p:sp>
      <p:sp>
        <p:nvSpPr>
          <p:cNvPr id="17" name="Text 15"/>
          <p:cNvSpPr txBox="1"/>
          <p:nvPr/>
        </p:nvSpPr>
        <p:spPr>
          <a:xfrm>
            <a:off x="2807208" y="2871216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 방법 안내, 개선 요청 → 자동 안내문, 체크리스트, 상담 예약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566928" y="341985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 txBox="1"/>
          <p:nvPr/>
        </p:nvSpPr>
        <p:spPr>
          <a:xfrm>
            <a:off x="612648" y="34930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勧告</a:t>
            </a:r>
            <a:endParaRPr lang="en-US" sz="1240" dirty="0"/>
          </a:p>
        </p:txBody>
      </p:sp>
      <p:sp>
        <p:nvSpPr>
          <p:cNvPr id="20" name="Text 18"/>
          <p:cNvSpPr txBox="1"/>
          <p:nvPr/>
        </p:nvSpPr>
        <p:spPr>
          <a:xfrm>
            <a:off x="2807208" y="3493008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주거용 토지 고정자산세 특례 제외 가능 → 소유자 의사결정 압박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566928" y="404164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12648" y="411480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命令・行政代執行</a:t>
            </a:r>
            <a:endParaRPr lang="en-US" sz="1240" dirty="0"/>
          </a:p>
        </p:txBody>
      </p:sp>
      <p:sp>
        <p:nvSpPr>
          <p:cNvPr id="23" name="Text 21"/>
          <p:cNvSpPr txBox="1"/>
          <p:nvPr/>
        </p:nvSpPr>
        <p:spPr>
          <a:xfrm>
            <a:off x="2807208" y="41148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위험한 경우 명령·대집행 → 위험도 근거자료와 이력관리 필요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66928" y="466344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612648" y="473659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管理不全空家等</a:t>
            </a:r>
            <a:endParaRPr lang="en-US" sz="1240" dirty="0"/>
          </a:p>
        </p:txBody>
      </p:sp>
      <p:sp>
        <p:nvSpPr>
          <p:cNvPr id="26" name="Text 24"/>
          <p:cNvSpPr txBox="1"/>
          <p:nvPr/>
        </p:nvSpPr>
        <p:spPr>
          <a:xfrm>
            <a:off x="2807208" y="4736592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특정空家等 전 단계의 예방 대상 → 정기관리·점검 서비스에 적합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66928" y="5285232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566928" y="539496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55955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개정법은 AI 서비스에 </a:t>
            </a:r>
            <a:r>
              <a:rPr lang="en-US" sz="18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“예방 관리” 시장</a:t>
            </a:r>
            <a:r>
              <a:rPr lang="en-US" sz="18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을 열어준다.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INHERITANCE REGISTRATION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2024 상속등기 의무화: 서류지원 수요의 핵심 트리거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Source: 法務省 相続登記の申請義務化について, 2024-04-01 시행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상속을 안 날부터 3년 이내 신청해야 하며, 정당한 사유 없이 위반하면 과료 대상이 될 수 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568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3년</a:t>
            </a:r>
            <a:endParaRPr lang="en-US" sz="4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3688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신청 기한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85680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¥100,000 이하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3688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정당한 사유 없는 위반 시 과료 가능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185680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相続人申告登記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3688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간이 이행 수단 신설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18568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3300" b="1">
                <a:solidFill>
                  <a:srgbClr val="111111"/>
                </a:solidFill>
                <a:latin typeface="Noto Sans CJK KR"/>
              </a:rPr>
              <a:t>2026.02.02</a:t>
            </a:r>
            <a:endParaRPr lang="en-US" sz="33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23688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200" dirty="0" err="1">
                <a:solidFill>
                  <a:srgbClr val="666666"/>
                </a:solidFill>
                <a:latin typeface="Noto Sans CJK KR"/>
              </a:rPr>
              <a:t>所有不動産記録証明制度</a:t>
            </a:r>
            <a:r>
              <a:rPr sz="1200" dirty="0">
                <a:solidFill>
                  <a:srgbClr val="666666"/>
                </a:solidFill>
                <a:latin typeface="Noto Sans CJK KR"/>
              </a:rPr>
              <a:t> </a:t>
            </a:r>
            <a:endParaRPr lang="en-US" sz="1200" dirty="0">
              <a:solidFill>
                <a:srgbClr val="666666"/>
              </a:solidFill>
              <a:latin typeface="Noto Sans CJK KR"/>
            </a:endParaRPr>
          </a:p>
          <a:p>
            <a:pPr marL="0" indent="0" algn="l">
              <a:buNone/>
            </a:pPr>
            <a:r>
              <a:rPr sz="1200" dirty="0" err="1">
                <a:solidFill>
                  <a:srgbClr val="666666"/>
                </a:solidFill>
                <a:latin typeface="Noto Sans CJK KR"/>
              </a:rPr>
              <a:t>시행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97180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4107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38328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상속인 파악, 필요서류 수집, 등기 진행 안내는 일반 소유자에게 매우 복잡하다.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88620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“내가 지금 어떤 등기를 해야 하는지”, “어떤 서류가 필요한지”, “어디에 제출해야 하는지”를 단계별로 안내할 수 있다.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416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38912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법률행위 자체는 전문가가 담당하되, AI는 사전 정리·문서 초안·체크리스트·상담 연결을 담당한다.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POLICY TO BUSINESS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변화가 만드는 사업 기회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国土交通省; 法務省; 世田谷区; analysis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32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법과 행정은 직접 서비스를 만들지 않는다. 실제 소유자 행동·문서정리·현장점검·고용을 연결하는 운영 레이어가 필요하다.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12648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Stakeholder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Product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1984248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61264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C1121F"/>
                </a:solidFill>
                <a:latin typeface="Noto Sans CJK KR"/>
              </a:rPr>
              <a:t>소유자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578608" y="21031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10">
                <a:solidFill>
                  <a:srgbClr val="111111"/>
                </a:solidFill>
                <a:latin typeface="Noto Sans CJK KR"/>
              </a:rPr>
              <a:t>서류가 복잡하고, 어디서부터 해야 하는지 모른다.</a:t>
            </a:r>
            <a:endParaRPr lang="en-US" sz="1310" dirty="0"/>
          </a:p>
        </p:txBody>
      </p:sp>
      <p:sp>
        <p:nvSpPr>
          <p:cNvPr id="16" name="Text 14"/>
          <p:cNvSpPr txBox="1"/>
          <p:nvPr/>
        </p:nvSpPr>
        <p:spPr>
          <a:xfrm>
            <a:off x="7562088" y="2103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10" b="1">
                <a:solidFill>
                  <a:srgbClr val="111111"/>
                </a:solidFill>
                <a:latin typeface="Noto Sans CJK KR"/>
              </a:rPr>
              <a:t>AI 문서·상담 가이드</a:t>
            </a:r>
            <a:endParaRPr lang="en-US" sz="1310" dirty="0"/>
          </a:p>
        </p:txBody>
      </p:sp>
      <p:sp>
        <p:nvSpPr>
          <p:cNvPr id="17" name="Shape 15"/>
          <p:cNvSpPr/>
          <p:nvPr/>
        </p:nvSpPr>
        <p:spPr>
          <a:xfrm>
            <a:off x="566928" y="256032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612648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C1121F"/>
                </a:solidFill>
                <a:latin typeface="Noto Sans CJK KR"/>
              </a:rPr>
              <a:t>지자체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78608" y="2816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10">
                <a:solidFill>
                  <a:srgbClr val="111111"/>
                </a:solidFill>
                <a:latin typeface="Noto Sans CJK KR"/>
              </a:rPr>
              <a:t>민원과 위험주택을 모두 사람이 추적하기 어렵다.</a:t>
            </a:r>
            <a:endParaRPr lang="en-US" sz="1310" dirty="0"/>
          </a:p>
        </p:txBody>
      </p:sp>
      <p:sp>
        <p:nvSpPr>
          <p:cNvPr id="20" name="Text 18"/>
          <p:cNvSpPr txBox="1"/>
          <p:nvPr/>
        </p:nvSpPr>
        <p:spPr>
          <a:xfrm>
            <a:off x="7562088" y="28163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10" b="1">
                <a:solidFill>
                  <a:srgbClr val="111111"/>
                </a:solidFill>
                <a:latin typeface="Noto Sans CJK KR"/>
              </a:rPr>
              <a:t>방문 우선순위화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566928" y="327355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12648" y="3529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C1121F"/>
                </a:solidFill>
                <a:latin typeface="Noto Sans CJK KR"/>
              </a:rPr>
              <a:t>전문가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578608" y="35295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10">
                <a:solidFill>
                  <a:srgbClr val="111111"/>
                </a:solidFill>
                <a:latin typeface="Noto Sans CJK KR"/>
              </a:rPr>
              <a:t>상담 전 정보가 정리되지 않아 비용이 높다.</a:t>
            </a:r>
            <a:endParaRPr lang="en-US" sz="1310" dirty="0"/>
          </a:p>
        </p:txBody>
      </p:sp>
      <p:sp>
        <p:nvSpPr>
          <p:cNvPr id="24" name="Text 22"/>
          <p:cNvSpPr txBox="1"/>
          <p:nvPr/>
        </p:nvSpPr>
        <p:spPr>
          <a:xfrm>
            <a:off x="7562088" y="35295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10" b="1">
                <a:solidFill>
                  <a:srgbClr val="111111"/>
                </a:solidFill>
                <a:latin typeface="Noto Sans CJK KR"/>
              </a:rPr>
              <a:t>사전 문서패키지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566928" y="398678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612648" y="4242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C1121F"/>
                </a:solidFill>
                <a:latin typeface="Noto Sans CJK KR"/>
              </a:rPr>
              <a:t>지역 인력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578608" y="42428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sz="1310">
                <a:solidFill>
                  <a:srgbClr val="111111"/>
                </a:solidFill>
                <a:latin typeface="Noto Sans CJK KR"/>
              </a:rPr>
              <a:t>주 1회 점검 일감은 있지만 안전·품질·보고 기준 없이 흩어져 있다.</a:t>
            </a:r>
            <a:endParaRPr lang="en-US" sz="1310" dirty="0"/>
          </a:p>
        </p:txBody>
      </p:sp>
      <p:sp>
        <p:nvSpPr>
          <p:cNvPr id="28" name="Text 26"/>
          <p:cNvSpPr txBox="1"/>
          <p:nvPr/>
        </p:nvSpPr>
        <p:spPr>
          <a:xfrm>
            <a:off x="7562088" y="42428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10" b="1">
                <a:solidFill>
                  <a:srgbClr val="111111"/>
                </a:solidFill>
                <a:latin typeface="Noto Sans CJK KR"/>
              </a:rPr>
              <a:t>Akiya Manager 교육·매칭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566928" y="470001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 txBox="1"/>
          <p:nvPr/>
        </p:nvSpPr>
        <p:spPr>
          <a:xfrm>
            <a:off x="566928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AI는 법률대체가 아니라 행정·현장·전문가·지역 일자리를 연결하는 전처리 OS로 설계해야 한다.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/ CURRENT SOLUTIONS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기존 空き家 플랫폼은 집을 보여준다. 우리는 일을 만든다.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国土交通省 空き家対策特設サイト; market analysis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일본에는 空き家バンク, 부동산 중개, 철거보조, 상담창구가 있지만, 지속 관리와 문서 흐름은 여전히 단절되어 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373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존재하는 것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7373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아직 약한 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121408"/>
            <a:ext cx="51663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355080" y="2121408"/>
            <a:ext cx="51663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566928" y="2267712"/>
            <a:ext cx="5166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空き家バンク: 매물 공개·지역 매칭</a:t>
            </a:r>
            <a:endParaRPr lang="en-US" sz="1440" dirty="0"/>
          </a:p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부동산 중개: 거래 중심</a:t>
            </a:r>
            <a:endParaRPr lang="en-US" sz="1440" dirty="0"/>
          </a:p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전문가 상담: 법무사·세무사·건축사·부동산</a:t>
            </a:r>
            <a:endParaRPr lang="en-US" sz="1440" dirty="0"/>
          </a:p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철거·개보수 보조: 지자체별 제도</a:t>
            </a:r>
            <a:endParaRPr lang="en-US" sz="1440" dirty="0"/>
          </a:p>
          <a:p>
            <a:pPr marL="0" indent="0" algn="l">
              <a:buNone/>
            </a:pPr>
            <a:r>
              <a:rPr lang="en-US" sz="144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리플렛·엔딩노트: 예방 교육</a:t>
            </a:r>
            <a:endParaRPr lang="en-US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67712"/>
            <a:ext cx="51663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440">
                <a:solidFill>
                  <a:srgbClr val="111111"/>
                </a:solidFill>
                <a:latin typeface="Noto Sans CJK KR"/>
              </a:rPr>
              <a:t>소유자 상태 진단부터 다음 행동까지의 통합 흐름</a:t>
            </a:r>
            <a:endParaRPr lang="en-US" sz="1440" dirty="0"/>
          </a:p>
          <a:p>
            <a:pPr algn="l"/>
            <a:r>
              <a:rPr sz="1440">
                <a:solidFill>
                  <a:srgbClr val="111111"/>
                </a:solidFill>
                <a:latin typeface="Noto Sans CJK KR"/>
              </a:rPr>
              <a:t>상속·등기·세금·건축·현장 상태를 한 번에 보는 triage</a:t>
            </a:r>
          </a:p>
          <a:p>
            <a:pPr algn="l"/>
            <a:r>
              <a:rPr sz="1440">
                <a:solidFill>
                  <a:srgbClr val="111111"/>
                </a:solidFill>
                <a:latin typeface="Noto Sans CJK KR"/>
              </a:rPr>
              <a:t>정기점검 업무의 지역 인력화</a:t>
            </a:r>
          </a:p>
          <a:p>
            <a:pPr algn="l"/>
            <a:r>
              <a:rPr sz="1440">
                <a:solidFill>
                  <a:srgbClr val="111111"/>
                </a:solidFill>
                <a:latin typeface="Noto Sans CJK KR"/>
              </a:rPr>
              <a:t>사진·체크리스트 기반의 위험 변화 추적</a:t>
            </a:r>
          </a:p>
          <a:p>
            <a:pPr algn="l"/>
            <a:r>
              <a:rPr sz="1440">
                <a:solidFill>
                  <a:srgbClr val="111111"/>
                </a:solidFill>
                <a:latin typeface="Noto Sans CJK KR"/>
              </a:rPr>
              <a:t>지자체·전문가·소유자 간 반복 문서 자동화</a:t>
            </a:r>
          </a:p>
        </p:txBody>
      </p:sp>
      <p:sp>
        <p:nvSpPr>
          <p:cNvPr id="15" name="Shape 13"/>
          <p:cNvSpPr/>
          <p:nvPr/>
        </p:nvSpPr>
        <p:spPr>
          <a:xfrm>
            <a:off x="566928" y="5340096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566928" y="55046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따라서 차별점은 “매물 수”가 아니라 AI 문서지원과 주간점검 일자리 네트워크다.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/ BUSINESS CONCEPT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제안 사업: AI Document + Local Jobs Platform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Concept proposal based on official statistics, policy changes, and Setagaya field data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34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빈집 관리 수요를 AI 문서지원과 지역 일자리로 연결한다.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08760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600" b="1">
                <a:solidFill>
                  <a:srgbClr val="111111"/>
                </a:solidFill>
                <a:latin typeface="Noto Sans CJK KR"/>
              </a:rPr>
              <a:t>AI가 복잡한 서류와 다음 행동을 정리하고,</a:t>
            </a:r>
            <a:endParaRPr lang="en-US" sz="2600" dirty="0"/>
          </a:p>
          <a:p>
            <a:pPr algn="l"/>
            <a:r>
              <a:rPr sz="2600" b="1">
                <a:solidFill>
                  <a:srgbClr val="111111"/>
                </a:solidFill>
                <a:latin typeface="Noto Sans CJK KR"/>
              </a:rPr>
              <a:t>지역 Akiya Manager가 주 1회 현장을 확인하며,</a:t>
            </a:r>
          </a:p>
          <a:p>
            <a:pPr algn="l"/>
            <a:r>
              <a:rPr sz="2600" b="1">
                <a:solidFill>
                  <a:srgbClr val="111111"/>
                </a:solidFill>
                <a:latin typeface="Noto Sans CJK KR"/>
              </a:rPr>
              <a:t>필요한 경우 지자체·전문가로 안전하게 연결하는 플랫폼.</a:t>
            </a:r>
          </a:p>
        </p:txBody>
      </p:sp>
      <p:sp>
        <p:nvSpPr>
          <p:cNvPr id="10" name="Shape 8"/>
          <p:cNvSpPr/>
          <p:nvPr/>
        </p:nvSpPr>
        <p:spPr>
          <a:xfrm>
            <a:off x="566928" y="333756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566928" y="3730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370332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80">
                <a:solidFill>
                  <a:srgbClr val="111111"/>
                </a:solidFill>
                <a:latin typeface="Noto Sans CJK KR"/>
              </a:rPr>
              <a:t>대상: 도쿄권 도시형 空き家/空家等 소유자, 지자체 빈집 담당부서, 건강한 고령층/파트타임 인력</a:t>
            </a:r>
            <a:endParaRPr lang="en-US" sz="158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233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420624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80">
                <a:solidFill>
                  <a:srgbClr val="111111"/>
                </a:solidFill>
                <a:latin typeface="Noto Sans CJK KR"/>
              </a:rPr>
              <a:t>핵심 가치: 상속·등기·세금·건물상태·현장점검을 단순화하고, 이를 반복 가능한 지역 일감으로 전환</a:t>
            </a:r>
            <a:endParaRPr lang="en-US" sz="158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736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09160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80">
                <a:solidFill>
                  <a:srgbClr val="111111"/>
                </a:solidFill>
                <a:latin typeface="Noto Sans CJK KR"/>
              </a:rPr>
              <a:t>사회적 가치: 빈집 안전관리 + 고령층/파트타임 일자리 + 지자체 행정부담 완화</a:t>
            </a:r>
            <a:endParaRPr lang="en-US" sz="15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/ PRODUCT ARCHITECTURE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제품 구조: 데이터 → 문서 → 일감 → 보고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analysis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35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도시형 빈집 문제는 AI만으로 해결되지 않는다. AI가 서류와 일을 쪼개고, 사람이 현장을 확인해야 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6356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84761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Intake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68237"/>
            <a:ext cx="1911096" cy="644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주소·등기·세금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건물정보·사진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 설문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560320" y="2939053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2761488" y="246356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284761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Triage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268237"/>
            <a:ext cx="1911096" cy="644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666666"/>
                </a:solidFill>
                <a:latin typeface="Noto Sans CJK KR"/>
              </a:rPr>
              <a:t>권리관계</a:t>
            </a:r>
            <a:endParaRPr lang="en-US" sz="1020" dirty="0"/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위험도</a:t>
            </a:r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필요서류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2939053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4956048" y="246356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284761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Task Routing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268237"/>
            <a:ext cx="1911096" cy="644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666666"/>
                </a:solidFill>
                <a:latin typeface="Noto Sans CJK KR"/>
              </a:rPr>
              <a:t>전문가 상담</a:t>
            </a:r>
            <a:endParaRPr lang="en-US" sz="1020" dirty="0"/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지자체 절차</a:t>
            </a:r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주간점검</a:t>
            </a:r>
          </a:p>
        </p:txBody>
      </p:sp>
      <p:sp>
        <p:nvSpPr>
          <p:cNvPr id="20" name="Shape 18"/>
          <p:cNvSpPr/>
          <p:nvPr/>
        </p:nvSpPr>
        <p:spPr>
          <a:xfrm>
            <a:off x="6949440" y="2939053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7150608" y="246356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84761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Local Work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268237"/>
            <a:ext cx="1911096" cy="644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666666"/>
                </a:solidFill>
                <a:latin typeface="Noto Sans CJK KR"/>
              </a:rPr>
              <a:t>Akiya Manager</a:t>
            </a:r>
            <a:endParaRPr lang="en-US" sz="1020" dirty="0"/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주간방문·환기</a:t>
            </a:r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사진보고·위험알림</a:t>
            </a:r>
          </a:p>
        </p:txBody>
      </p:sp>
      <p:sp>
        <p:nvSpPr>
          <p:cNvPr id="24" name="Shape 22"/>
          <p:cNvSpPr/>
          <p:nvPr/>
        </p:nvSpPr>
        <p:spPr>
          <a:xfrm>
            <a:off x="9144000" y="2939053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9345168" y="2463565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2847613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Next Action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3268237"/>
            <a:ext cx="1911096" cy="644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666666"/>
                </a:solidFill>
                <a:latin typeface="Noto Sans CJK KR"/>
              </a:rPr>
              <a:t>Owner Report</a:t>
            </a:r>
            <a:endParaRPr lang="en-US" sz="1020" dirty="0"/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Expert Referral</a:t>
            </a:r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Next Visit</a:t>
            </a:r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Emergency Alert</a:t>
            </a:r>
          </a:p>
        </p:txBody>
      </p:sp>
      <p:sp>
        <p:nvSpPr>
          <p:cNvPr id="28" name="Shape 26"/>
          <p:cNvSpPr/>
          <p:nvPr/>
        </p:nvSpPr>
        <p:spPr>
          <a:xfrm>
            <a:off x="566928" y="518464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플랫폼은 “집 검색”이 아니라 AI가 문서를 정리하고 주간 점검 업무를 배정하는 일자리 운영 레이어다.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 / AI FUNCTIONS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AI 기능 설계: 문서지원 + 업무배정이 핵심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analysis based on Japanese policy and owner survey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36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전문가가 해야 할 법률 판단은 남겨두되, AI는 정보 정리·초안·체크리스트·우선순위화·일감 배정을 담당한다.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37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書類ナビ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193725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10">
                <a:solidFill>
                  <a:srgbClr val="111111"/>
                </a:solidFill>
                <a:latin typeface="Noto Sans CJK KR"/>
              </a:rPr>
              <a:t>상속등기, 고정자산세, 소유자 확인, 위임장, 상담자료 체크리스트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566928" y="2577336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6144768" y="1937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RAG / Source QA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193725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10">
                <a:solidFill>
                  <a:srgbClr val="111111"/>
                </a:solidFill>
                <a:latin typeface="Noto Sans CJK KR"/>
              </a:rPr>
              <a:t>法務省·国交省·自治体자료 기반 답변, 출처 첨부, 법률 판단은 전문가 연결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6144768" y="2577336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566928" y="2924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Risk Scoring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15768" y="292480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10">
                <a:solidFill>
                  <a:srgbClr val="111111"/>
                </a:solidFill>
                <a:latin typeface="Noto Sans CJK KR"/>
              </a:rPr>
              <a:t>築年·旧耐震·방치기간·민원·주변위험도·사진 기반 우선순위</a:t>
            </a:r>
            <a:endParaRPr lang="en-US" sz="1210" dirty="0"/>
          </a:p>
        </p:txBody>
      </p:sp>
      <p:sp>
        <p:nvSpPr>
          <p:cNvPr id="17" name="Shape 15"/>
          <p:cNvSpPr/>
          <p:nvPr/>
        </p:nvSpPr>
        <p:spPr>
          <a:xfrm>
            <a:off x="566928" y="3564888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6144768" y="29248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Field QA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2924808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10">
                <a:solidFill>
                  <a:srgbClr val="111111"/>
                </a:solidFill>
                <a:latin typeface="Noto Sans CJK KR"/>
              </a:rPr>
              <a:t>Akiya Manager 사진·체크리스트 누락 검수, 이전 방문과 변화 비교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6144768" y="3564888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3912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Workforce Routing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715768" y="39123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10">
                <a:solidFill>
                  <a:srgbClr val="111111"/>
                </a:solidFill>
                <a:latin typeface="Noto Sans CJK KR"/>
              </a:rPr>
              <a:t>거리·시간·난이도·안전등급 기준으로 주간 방문 업무 배정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566928" y="4552440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6144768" y="3912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Owner Report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912360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10">
                <a:solidFill>
                  <a:srgbClr val="111111"/>
                </a:solidFill>
                <a:latin typeface="Noto Sans CJK KR"/>
              </a:rPr>
              <a:t>쉬운 말의 다음 행동, 점검 결과, 전문가 연결 필요성 자동 요약</a:t>
            </a:r>
            <a:endParaRPr lang="en-US" sz="1210" dirty="0"/>
          </a:p>
        </p:txBody>
      </p:sp>
      <p:sp>
        <p:nvSpPr>
          <p:cNvPr id="26" name="Shape 24"/>
          <p:cNvSpPr/>
          <p:nvPr/>
        </p:nvSpPr>
        <p:spPr>
          <a:xfrm>
            <a:off x="6144768" y="4552440"/>
            <a:ext cx="516636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66928" y="5285232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 txBox="1"/>
          <p:nvPr/>
        </p:nvSpPr>
        <p:spPr>
          <a:xfrm>
            <a:off x="566928" y="544982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AI는 “판단의 대체”가 아니라 문서 공포를 낮추고 현장 일감을 안전하게 만드는 운영 도구다.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750" b="1">
                <a:solidFill>
                  <a:srgbClr val="C1121F"/>
                </a:solidFill>
                <a:latin typeface="Noto Sans CJK KR"/>
              </a:rPr>
              <a:t>07 / AI TECH STACK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AI 기술 구성: 공개데이터 + 문서 RAG + 사진 검수 + 업무 라우팅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666666"/>
                </a:solidFill>
                <a:latin typeface="Noto Sans CJK KR"/>
              </a:rPr>
              <a:t>Technical design proposal based on Japanese public data and field workflow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37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초기 제품은 거대한 예측모델보다, 신뢰 가능한 공식자료·소유자 문서·현장사진을 연결하는 “AI 업무흐름”이 중요하다.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66928" y="1554480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12648" y="16276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111111"/>
                </a:solidFill>
                <a:latin typeface="Noto Sans CJK KR"/>
              </a:rPr>
              <a:t>AI 모듈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16276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111111"/>
                </a:solidFill>
                <a:latin typeface="Noto Sans CJK KR"/>
              </a:rPr>
              <a:t>모델 후보와 필요한 데이터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19456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612648" y="22677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LLM + RAG</a:t>
            </a:r>
            <a:endParaRPr lang="en-US" sz="1220" dirty="0"/>
          </a:p>
        </p:txBody>
      </p:sp>
      <p:sp>
        <p:nvSpPr>
          <p:cNvPr id="14" name="Text 12"/>
          <p:cNvSpPr txBox="1"/>
          <p:nvPr/>
        </p:nvSpPr>
        <p:spPr>
          <a:xfrm>
            <a:off x="2807208" y="22677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220" dirty="0">
                <a:solidFill>
                  <a:srgbClr val="111111"/>
                </a:solidFill>
                <a:latin typeface="Noto Sans CJK KR"/>
              </a:rPr>
              <a:t>성능 좋은</a:t>
            </a:r>
            <a:r>
              <a:rPr sz="1220" dirty="0">
                <a:solidFill>
                  <a:srgbClr val="111111"/>
                </a:solidFill>
                <a:latin typeface="Noto Sans CJK KR"/>
              </a:rPr>
              <a:t> LLM, </a:t>
            </a:r>
            <a:r>
              <a:rPr sz="1220" dirty="0" err="1">
                <a:solidFill>
                  <a:srgbClr val="111111"/>
                </a:solidFill>
                <a:latin typeface="Noto Sans CJK KR"/>
              </a:rPr>
              <a:t>일본어</a:t>
            </a:r>
            <a:r>
              <a:rPr sz="1220" dirty="0">
                <a:solidFill>
                  <a:srgbClr val="111111"/>
                </a:solidFill>
                <a:latin typeface="Noto Sans CJK KR"/>
              </a:rPr>
              <a:t> RAG. </a:t>
            </a:r>
            <a:r>
              <a:rPr sz="1220" dirty="0" err="1">
                <a:solidFill>
                  <a:srgbClr val="111111"/>
                </a:solidFill>
                <a:latin typeface="Noto Sans CJK KR"/>
              </a:rPr>
              <a:t>입력</a:t>
            </a:r>
            <a:r>
              <a:rPr sz="1220" dirty="0">
                <a:solidFill>
                  <a:srgbClr val="111111"/>
                </a:solidFill>
                <a:latin typeface="Noto Sans CJK KR"/>
              </a:rPr>
              <a:t>: </a:t>
            </a:r>
            <a:r>
              <a:rPr sz="1220" dirty="0" err="1">
                <a:solidFill>
                  <a:srgbClr val="111111"/>
                </a:solidFill>
                <a:latin typeface="Noto Sans CJK KR"/>
              </a:rPr>
              <a:t>法務省·国交省·世田谷区</a:t>
            </a:r>
            <a:r>
              <a:rPr sz="122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220" dirty="0" err="1">
                <a:solidFill>
                  <a:srgbClr val="111111"/>
                </a:solidFill>
                <a:latin typeface="Noto Sans CJK KR"/>
              </a:rPr>
              <a:t>자료</a:t>
            </a:r>
            <a:r>
              <a:rPr sz="1220" dirty="0">
                <a:solidFill>
                  <a:srgbClr val="111111"/>
                </a:solidFill>
                <a:latin typeface="Noto Sans CJK KR"/>
              </a:rPr>
              <a:t>, FAQ, </a:t>
            </a:r>
            <a:r>
              <a:rPr sz="1220" dirty="0" err="1">
                <a:solidFill>
                  <a:srgbClr val="111111"/>
                </a:solidFill>
                <a:latin typeface="Noto Sans CJK KR"/>
              </a:rPr>
              <a:t>소유자</a:t>
            </a:r>
            <a:r>
              <a:rPr sz="122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220" dirty="0" err="1">
                <a:solidFill>
                  <a:srgbClr val="111111"/>
                </a:solidFill>
                <a:latin typeface="Noto Sans CJK KR"/>
              </a:rPr>
              <a:t>문서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566928" y="283464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612648" y="29077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Vision Model</a:t>
            </a:r>
            <a:endParaRPr lang="en-US" sz="1220" dirty="0"/>
          </a:p>
        </p:txBody>
      </p:sp>
      <p:sp>
        <p:nvSpPr>
          <p:cNvPr id="17" name="Text 15"/>
          <p:cNvSpPr txBox="1"/>
          <p:nvPr/>
        </p:nvSpPr>
        <p:spPr>
          <a:xfrm>
            <a:off x="2807208" y="29077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VLM / YOLO·SAM 계열. 입력: 외관·지붕·우편함·잡초·파손 사진, 표준 촬영각도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66928" y="347472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 txBox="1"/>
          <p:nvPr/>
        </p:nvSpPr>
        <p:spPr>
          <a:xfrm>
            <a:off x="612648" y="3547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Tabular Risk ML</a:t>
            </a:r>
            <a:endParaRPr lang="en-US" sz="1220" dirty="0"/>
          </a:p>
        </p:txBody>
      </p:sp>
      <p:sp>
        <p:nvSpPr>
          <p:cNvPr id="20" name="Text 18"/>
          <p:cNvSpPr txBox="1"/>
          <p:nvPr/>
        </p:nvSpPr>
        <p:spPr>
          <a:xfrm>
            <a:off x="2807208" y="354787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LightGBM/XGBoost/로지스틱 회귀. 입력: 築年, 旧耐震, 방치기간, 민원, 위험지도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66928" y="411480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12648" y="41879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Routing Engine</a:t>
            </a:r>
            <a:endParaRPr lang="en-US" sz="1220" dirty="0"/>
          </a:p>
        </p:txBody>
      </p:sp>
      <p:sp>
        <p:nvSpPr>
          <p:cNvPr id="23" name="Text 21"/>
          <p:cNvSpPr txBox="1"/>
          <p:nvPr/>
        </p:nvSpPr>
        <p:spPr>
          <a:xfrm>
            <a:off x="2807208" y="418795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OR-Tools/VRP. 입력: 위치, 근로자 가능시간, 난이도, 주 1회·여름 주 2회 빈도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566928" y="475488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612648" y="48280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 dirty="0">
                <a:solidFill>
                  <a:srgbClr val="111111"/>
                </a:solidFill>
                <a:latin typeface="Noto Sans CJK KR"/>
              </a:rPr>
              <a:t>Human Review</a:t>
            </a:r>
            <a:endParaRPr lang="en-US" sz="1220" dirty="0"/>
          </a:p>
        </p:txBody>
      </p:sp>
      <p:sp>
        <p:nvSpPr>
          <p:cNvPr id="26" name="Text 24"/>
          <p:cNvSpPr txBox="1"/>
          <p:nvPr/>
        </p:nvSpPr>
        <p:spPr>
          <a:xfrm>
            <a:off x="2807208" y="4828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법률·구조 안전·고위험 건물은 전문가 확인. AI는 출처와 근거를 남기는 보조자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566928" y="5394960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566928" y="536752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 dirty="0" err="1">
                <a:solidFill>
                  <a:srgbClr val="111111"/>
                </a:solidFill>
                <a:latin typeface="Noto Sans CJK KR"/>
              </a:rPr>
              <a:t>MVP는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“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문서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RAG +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표준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사진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리포트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+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주간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업무배정”부터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시작하고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, </a:t>
            </a:r>
            <a:endParaRPr lang="en-US" sz="1800" b="1" dirty="0">
              <a:solidFill>
                <a:srgbClr val="111111"/>
              </a:solidFill>
              <a:latin typeface="Noto Sans CJK KR"/>
            </a:endParaRPr>
          </a:p>
          <a:p>
            <a:pPr marL="0" indent="0" algn="l">
              <a:buNone/>
            </a:pP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위험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예측은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필드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데이터가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쌓인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뒤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Noto Sans CJK KR"/>
              </a:rPr>
              <a:t>고도화한다</a:t>
            </a:r>
            <a:r>
              <a:rPr sz="1800" b="1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/ LOCAL WORKFORCE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핵심 모델: 빈집 관리에서 지역 일자리를 만든다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proposal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38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이 서비스의 주인공은 부동산이 아니라 사람이다. AI 문서지원으로 복잡함을 줄이고, 빈집 점검을 건강한 고령층과 파트타임 인력의 지역 일감으로 만든다.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02221"/>
            <a:ext cx="2926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500" b="1">
                <a:solidFill>
                  <a:srgbClr val="C1121F"/>
                </a:solidFill>
                <a:latin typeface="Noto Sans CJK KR"/>
              </a:rPr>
              <a:t>Healthy seniors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263079"/>
            <a:ext cx="292608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sz="1200">
                <a:solidFill>
                  <a:srgbClr val="666666"/>
                </a:solidFill>
                <a:latin typeface="Noto Sans CJK KR"/>
              </a:rPr>
              <a:t>최우선: 은퇴 후 몸을 움직이고 지역사회에 참여하고 싶은 건강한 고령층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802221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Parents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263079"/>
            <a:ext cx="274320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육아 중 아이 등교 후 2~3시간 가능한 사람들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802221"/>
            <a:ext cx="2377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Side workers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263079"/>
            <a:ext cx="23774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퇴근 후·주말 추가수입 희망자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1802221"/>
            <a:ext cx="2377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Local residents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9372600" y="2263079"/>
            <a:ext cx="237744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동네를 잘 아는 주민 네트워크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907792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300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3273552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40">
                <a:solidFill>
                  <a:srgbClr val="111111"/>
                </a:solidFill>
                <a:latin typeface="Noto Sans CJK KR"/>
              </a:rPr>
              <a:t>업무는 고강도 건설노동이 아니라, 주간점검·사진촬영·환기·간단청소·우편물 확인·잡초/파손 보고 중심으로 설계한다.</a:t>
            </a:r>
            <a:endParaRPr lang="en-US" sz="154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803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" y="3776472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40">
                <a:solidFill>
                  <a:srgbClr val="111111"/>
                </a:solidFill>
                <a:latin typeface="Noto Sans CJK KR"/>
              </a:rPr>
              <a:t>AI는 체크리스트를 만들고, 방문 전 안전주의 사항을 알려주며, 촬영된 사진의 누락을 검수한다.</a:t>
            </a:r>
            <a:endParaRPr lang="en-US" sz="154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4279392"/>
            <a:ext cx="10497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40" dirty="0">
                <a:solidFill>
                  <a:srgbClr val="111111"/>
                </a:solidFill>
                <a:latin typeface="Noto Sans CJK KR"/>
              </a:rPr>
              <a:t>Akiya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Manager는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집을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수리하는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사람이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아니라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,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집의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상태를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정기적으로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확인하고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위험을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조기에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보고하는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endParaRPr lang="en-US" sz="1540" dirty="0">
              <a:solidFill>
                <a:srgbClr val="111111"/>
              </a:solidFill>
              <a:latin typeface="Noto Sans CJK KR"/>
            </a:endParaRPr>
          </a:p>
          <a:p>
            <a:pPr marL="0" indent="0" algn="l">
              <a:buNone/>
            </a:pPr>
            <a:r>
              <a:rPr sz="1540" dirty="0" err="1">
                <a:solidFill>
                  <a:srgbClr val="111111"/>
                </a:solidFill>
                <a:latin typeface="Noto Sans CJK KR"/>
              </a:rPr>
              <a:t>지역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모니터링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1540" dirty="0" err="1">
                <a:solidFill>
                  <a:srgbClr val="111111"/>
                </a:solidFill>
                <a:latin typeface="Noto Sans CJK KR"/>
              </a:rPr>
              <a:t>인력이다</a:t>
            </a:r>
            <a:r>
              <a:rPr sz="1540" dirty="0">
                <a:solidFill>
                  <a:srgbClr val="111111"/>
                </a:solidFill>
                <a:latin typeface="Noto Sans CJK KR"/>
              </a:rPr>
              <a:t>.</a:t>
            </a:r>
            <a:endParaRPr lang="en-US" sz="154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/ JOB DESIGN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Akiya Manager 업무 주기: 기본 주 1회, 여름 주 2회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proposal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39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업무 단위를 작게 쪼개야 파트타임·고령층·주말 근로자가 안전하게 참여할 수 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8930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C1121F"/>
                </a:solidFill>
                <a:latin typeface="Noto Sans CJK KR"/>
              </a:rPr>
              <a:t>기본: 주 1회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035808" y="2107589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외관, 문·창문, 우편물, 침입 흔적, 사진 리포트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674517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6099048" y="208930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C1121F"/>
                </a:solidFill>
                <a:latin typeface="Noto Sans CJK KR"/>
              </a:rPr>
              <a:t>여름·장마: 주 2회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567928" y="2107589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습기·곰팡이·잡초·누수·태풍 후 파손 확인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99048" y="2674517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566928" y="304942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C1121F"/>
                </a:solidFill>
                <a:latin typeface="Noto Sans CJK KR"/>
              </a:rPr>
              <a:t>저위험: 월 1회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035808" y="3067709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양호한 장기 보관 주택의 최소 모니터링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634637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6099048" y="304942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C1121F"/>
                </a:solidFill>
                <a:latin typeface="Noto Sans CJK KR"/>
              </a:rPr>
              <a:t>표준 사진 리포트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3067709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정해진 각도·체크리스트 기반 촬영, AI 누락 검수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99048" y="3634637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400954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C1121F"/>
                </a:solidFill>
                <a:latin typeface="Noto Sans CJK KR"/>
              </a:rPr>
              <a:t>이상징후 보고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035808" y="4027829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파손, 침입 흔적, 화재위험, 누수, 악취, 쓰레기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594757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6099048" y="4009541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C1121F"/>
                </a:solidFill>
                <a:latin typeface="Noto Sans CJK KR"/>
              </a:rPr>
              <a:t>고위험 건물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8567928" y="4027829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일반 매니저 내부 진입 금지, 지자체·전문가·공사업체 연결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99048" y="4594757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66928" y="527608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 txBox="1"/>
          <p:nvPr/>
        </p:nvSpPr>
        <p:spPr>
          <a:xfrm>
            <a:off x="566928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Akiya Manager는 건설 전문가가 아니라, 주 1회 확인하고 기록하는 지역 기반 리스크 모니터로 시작한다.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/ SERVICE FLOW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서비스 흐름: AI 문서지원에서 주간 일자리까지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proposal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40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복잡한 절차를 하나의 흐름으로 묶어야 소유자가 포기하지 않고, 지역 근로자도 안전하게 일할 수 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3083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923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Register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02371"/>
            <a:ext cx="1911096" cy="664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소유자/지자체가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주소·상태 입력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560320" y="2783820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2761488" y="23083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26923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Review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102371"/>
            <a:ext cx="1911096" cy="664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666666"/>
                </a:solidFill>
                <a:latin typeface="Noto Sans CJK KR"/>
              </a:rPr>
              <a:t>서류·상속·위험</a:t>
            </a:r>
            <a:endParaRPr lang="en-US" sz="1020" dirty="0"/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방문 체크리스트 생성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2783820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4956048" y="23083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26923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Dispatch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102371"/>
            <a:ext cx="1911096" cy="664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666666"/>
                </a:solidFill>
                <a:latin typeface="Noto Sans CJK KR"/>
              </a:rPr>
              <a:t>근처 Akiya Manager</a:t>
            </a:r>
            <a:endParaRPr lang="en-US" sz="1020" dirty="0"/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주 1회 방문 배정</a:t>
            </a:r>
          </a:p>
        </p:txBody>
      </p:sp>
      <p:sp>
        <p:nvSpPr>
          <p:cNvPr id="20" name="Shape 18"/>
          <p:cNvSpPr/>
          <p:nvPr/>
        </p:nvSpPr>
        <p:spPr>
          <a:xfrm>
            <a:off x="6949440" y="2783820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7150608" y="23083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6923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Report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102371"/>
            <a:ext cx="1911096" cy="664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사진·점검표 업로드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누락 검수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144000" y="2783820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9345168" y="23083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26923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3102371"/>
            <a:ext cx="1911096" cy="664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020">
                <a:solidFill>
                  <a:srgbClr val="666666"/>
                </a:solidFill>
                <a:latin typeface="Noto Sans CJK KR"/>
              </a:rPr>
              <a:t>소유자 리포트</a:t>
            </a:r>
            <a:endParaRPr lang="en-US" sz="1020" dirty="0"/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전문가 연결</a:t>
            </a:r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다음 방문 예약</a:t>
            </a:r>
          </a:p>
          <a:p>
            <a:pPr algn="ctr"/>
            <a:r>
              <a:rPr sz="1020">
                <a:solidFill>
                  <a:srgbClr val="666666"/>
                </a:solidFill>
                <a:latin typeface="Noto Sans CJK KR"/>
              </a:rPr>
              <a:t>긴급 알림</a:t>
            </a:r>
          </a:p>
        </p:txBody>
      </p:sp>
      <p:sp>
        <p:nvSpPr>
          <p:cNvPr id="28" name="Shape 26"/>
          <p:cNvSpPr/>
          <p:nvPr/>
        </p:nvSpPr>
        <p:spPr>
          <a:xfrm>
            <a:off x="566928" y="466344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49651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111111"/>
                </a:solidFill>
                <a:latin typeface="Noto Sans CJK KR"/>
              </a:rPr>
              <a:t>소유자가 보는 것은 복잡한 법령이 아니라, “지금 해야 할 3가지”와 “이번 주 방문 결과”여야 한다.</a:t>
            </a:r>
            <a:endParaRPr lang="en-US" sz="2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/ MVP PLAN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MVP: AI 문서 + Akiya Manager 90일 파일럿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proposal based on Setagaya case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초기에는 모든 빈집을 다루지 않고, “서류가 복잡하지만 관리 의지가 있는 소유자”와 “짧은 시간 일할 지역 인력”부터 검증한다.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66928" y="1600200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12648" y="167335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기간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441448" y="1673352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목표와 실행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31343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612648" y="23865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0–30일</a:t>
            </a:r>
            <a:endParaRPr lang="en-US" sz="1270" dirty="0"/>
          </a:p>
        </p:txBody>
      </p:sp>
      <p:sp>
        <p:nvSpPr>
          <p:cNvPr id="14" name="Text 12"/>
          <p:cNvSpPr txBox="1"/>
          <p:nvPr/>
        </p:nvSpPr>
        <p:spPr>
          <a:xfrm>
            <a:off x="2441448" y="2386584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11111"/>
                </a:solidFill>
                <a:latin typeface="Noto Sans CJK KR"/>
              </a:rPr>
              <a:t>공식 데이터·공시지가·빈집 리스크 변수 정리, AI 문서 체크리스트와 방문 매뉴얼 제작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566928" y="302666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612648" y="309981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31–60일</a:t>
            </a:r>
            <a:endParaRPr lang="en-US" sz="1270" dirty="0"/>
          </a:p>
        </p:txBody>
      </p:sp>
      <p:sp>
        <p:nvSpPr>
          <p:cNvPr id="17" name="Text 15"/>
          <p:cNvSpPr txBox="1"/>
          <p:nvPr/>
        </p:nvSpPr>
        <p:spPr>
          <a:xfrm>
            <a:off x="2441448" y="3099816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11111"/>
                </a:solidFill>
                <a:latin typeface="Noto Sans CJK KR"/>
              </a:rPr>
              <a:t>소유자 20건 + Akiya Manager 후보 30명 + 지자체/전문가/시니어 인력기관 인터뷰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566928" y="373989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 txBox="1"/>
          <p:nvPr/>
        </p:nvSpPr>
        <p:spPr>
          <a:xfrm>
            <a:off x="612648" y="38130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61–90일</a:t>
            </a:r>
            <a:endParaRPr lang="en-US" sz="1270" dirty="0"/>
          </a:p>
        </p:txBody>
      </p:sp>
      <p:sp>
        <p:nvSpPr>
          <p:cNvPr id="20" name="Text 18"/>
          <p:cNvSpPr txBox="1"/>
          <p:nvPr/>
        </p:nvSpPr>
        <p:spPr>
          <a:xfrm>
            <a:off x="2441448" y="3813048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11111"/>
                </a:solidFill>
                <a:latin typeface="Noto Sans CJK KR"/>
              </a:rPr>
              <a:t>Akiya Manager 5–10명 교육, 주 1회 점검 리포트 30–50건 생성, 여름 주 2회 시나리오 검증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566928" y="445312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12648" y="45262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산출물</a:t>
            </a:r>
            <a:endParaRPr lang="en-US" sz="1270" dirty="0"/>
          </a:p>
        </p:txBody>
      </p:sp>
      <p:sp>
        <p:nvSpPr>
          <p:cNvPr id="23" name="Text 21"/>
          <p:cNvSpPr txBox="1"/>
          <p:nvPr/>
        </p:nvSpPr>
        <p:spPr>
          <a:xfrm>
            <a:off x="2441448" y="4526280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70">
                <a:solidFill>
                  <a:srgbClr val="111111"/>
                </a:solidFill>
                <a:latin typeface="Noto Sans CJK KR"/>
              </a:rPr>
              <a:t>AI 문서가이드, 표준 사진 리포트, 주간 방문 체크리스트, 안전 에스컬레이션 기준, 급여/가격 가설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566928" y="5166360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Shape 23"/>
          <p:cNvSpPr/>
          <p:nvPr/>
        </p:nvSpPr>
        <p:spPr>
          <a:xfrm>
            <a:off x="566928" y="539496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566928" y="555955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초기 KPI는 매출보다 “지역 일자리가 실제로 돌아가고, 소유자가 다음 행동을 했는가”이다.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/ KPI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검증 KPI: 일자리가 만들어지고 위험이 줄었는가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proposal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이 서비스는 빈집 거래가 아니라 AI 문서지원과 지역 일자리 모델이다. KPI도 사람·방문·안전 순서로 봐야 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259423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지역 일자리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2259423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240">
                <a:solidFill>
                  <a:srgbClr val="111111"/>
                </a:solidFill>
                <a:latin typeface="Noto Sans CJK KR"/>
              </a:rPr>
              <a:t>Akiya Manager 등록자 수, 60세 이상 비율, 월평균 수행 건수, 재참여율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566928" y="2835495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6099048" y="2259423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방문 수행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259423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240">
                <a:solidFill>
                  <a:srgbClr val="111111"/>
                </a:solidFill>
                <a:latin typeface="Noto Sans CJK KR"/>
              </a:rPr>
              <a:t>주 1회 방문 완료율, 사진 리포트 제출률, 누락률, 여름 주 2회 대응률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099048" y="2835495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566928" y="3201255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안전 정확도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15768" y="3201255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240">
                <a:solidFill>
                  <a:srgbClr val="111111"/>
                </a:solidFill>
                <a:latin typeface="Noto Sans CJK KR"/>
              </a:rPr>
              <a:t>이상징후 조기 발견, 고위험 내부진입 방지, 전문가 연결 정확도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566928" y="3777327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6099048" y="3201255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AI 문서효과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47888" y="3201255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240">
                <a:solidFill>
                  <a:srgbClr val="111111"/>
                </a:solidFill>
                <a:latin typeface="Noto Sans CJK KR"/>
              </a:rPr>
              <a:t>필수 문서 체크리스트 완성률, 전문가 상담 전 누락 감소, 다음 행동 전환률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6099048" y="3777327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414308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소유자 유지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715768" y="4143087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240">
                <a:solidFill>
                  <a:srgbClr val="111111"/>
                </a:solidFill>
                <a:latin typeface="Noto Sans CJK KR"/>
              </a:rPr>
              <a:t>리포트 열람률, 3개월/6개월 정기점검 유지율, 계절 추가관리 신청률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566928" y="4719159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6099048" y="414308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C1121F"/>
                </a:solidFill>
                <a:latin typeface="Noto Sans CJK KR"/>
              </a:rPr>
              <a:t>사회적 임팩트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4143087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240">
                <a:solidFill>
                  <a:srgbClr val="111111"/>
                </a:solidFill>
                <a:latin typeface="Noto Sans CJK KR"/>
              </a:rPr>
              <a:t>방치 악화 예방, 민원 감소, 고령층 소득·사회참여 시간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6099048" y="4719159"/>
            <a:ext cx="50749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5"/>
          <p:cNvSpPr/>
          <p:nvPr/>
        </p:nvSpPr>
        <p:spPr>
          <a:xfrm>
            <a:off x="566928" y="527608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 txBox="1"/>
          <p:nvPr/>
        </p:nvSpPr>
        <p:spPr>
          <a:xfrm>
            <a:off x="566928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가장 중요한 질문: 지역 일자리가 실제로 만들어졌고, 그 일이 빈집 위험을 줄였는가?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/ BUSINESS MODEL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급여 재원 모델: 정부가 전부 내는 구조는 아니다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hypothesis — to be validated with local interviews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43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Akiya Manager 급여는 기본적으로 소유자 구독료와 지자체 위탁계약에서 나오고, 정부지원은 파일럿·교육·공익사업 보조로 활용하는 구조가 현실적이다.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12648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11111"/>
                </a:solidFill>
                <a:latin typeface="Noto Sans CJK KR"/>
              </a:rPr>
              <a:t>재원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081528" y="1645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11111"/>
                </a:solidFill>
                <a:latin typeface="Noto Sans CJK KR"/>
              </a:rPr>
              <a:t>급여와 서비스 운영 방식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21284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612648" y="2286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Owner Subscription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81528" y="22860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주 1회 방문, 사진 리포트, 환기, 우편함 확인, 위험 알림. Akiya Manager 기본 급여의 핵심 재원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612648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Seasonal Add-on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81528" y="2926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여름·장마·태풍 시즌 주 2회 방문. 습기·잡초·누수·태풍 피해 확인을 추가 과금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49300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 txBox="1"/>
          <p:nvPr/>
        </p:nvSpPr>
        <p:spPr>
          <a:xfrm>
            <a:off x="612648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Inspection / Document Pack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81528" y="3566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1회 점검, 상속·등기·세금 상담 전 문서 정리, 전문가 연결 전 자료 패키지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13308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12648" y="4206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Municipal Contract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081528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관리불전 예방, 민원 대응 보조, 현장 확인 기록, 지자체용 대시보드·리포트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77316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612648" y="4846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Public / Partner Support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081528" y="4846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111111"/>
                </a:solidFill>
                <a:latin typeface="Noto Sans CJK KR"/>
              </a:rPr>
              <a:t>공공지원은 PoC·교육·DB 구축·공익형 위탁에 적합. 일반 주간 급여는 구독/위탁 수익에서 지급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5413248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566928" y="532180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부동산을 직접 거래하지 않아도, 빈집의 반복 점검 업무를 지역 일자리와 구독형 서비스로 만들 수 있다.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750" b="1">
                <a:solidFill>
                  <a:srgbClr val="C1121F"/>
                </a:solidFill>
                <a:latin typeface="Noto Sans CJK KR"/>
              </a:rPr>
              <a:t>09 / FUNDING &amp; EMPLOYMENT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정부지원과 고령층 일자리 인프라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650">
                <a:solidFill>
                  <a:srgbClr val="666666"/>
                </a:solidFill>
                <a:latin typeface="Noto Sans CJK KR"/>
              </a:rPr>
              <a:t>Funding strategy based on MLIT programs, Silver Human Resources Centers, and JEED schemes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44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일본에는 빈집 대책·모델사업·고령층 취업지원 제도가 있지만, 이를 “상시 급여 지급처”가 아니라 파일럿·교육·위탁계약의 기반으로 봐야 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72162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111111"/>
                </a:solidFill>
                <a:latin typeface="Noto Sans CJK KR"/>
              </a:rPr>
              <a:t>国交省 空き家対策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173991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>
                <a:solidFill>
                  <a:srgbClr val="111111"/>
                </a:solidFill>
                <a:latin typeface="Noto Sans CJK KR"/>
              </a:rPr>
              <a:t>지자체 조사, 소유자 파악, 활용·철거·관리 정책, 모델사업/종합지원사업과 연결 가능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20625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566928" y="243485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111111"/>
                </a:solidFill>
                <a:latin typeface="Noto Sans CJK KR"/>
              </a:rPr>
              <a:t>空き家DB標準仕様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2715768" y="245314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>
                <a:solidFill>
                  <a:srgbClr val="111111"/>
                </a:solidFill>
                <a:latin typeface="Noto Sans CJK KR"/>
              </a:rPr>
              <a:t>2025년 표준사양은 지자체 데이터·업무흐름 표준화의 근거. AI 데이터모델 설계에 활용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291949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566928" y="314809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111111"/>
                </a:solidFill>
                <a:latin typeface="Noto Sans CJK KR"/>
              </a:rPr>
              <a:t>シルバー人材センター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2715768" y="316637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>
                <a:solidFill>
                  <a:srgbClr val="111111"/>
                </a:solidFill>
                <a:latin typeface="Noto Sans CJK KR"/>
              </a:rPr>
              <a:t>고령층의 임시·단기·경미 업무 인프라. 건물관리·청소·제초 등과 유사한 업무 파트너 가능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363272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86132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111111"/>
                </a:solidFill>
                <a:latin typeface="Noto Sans CJK KR"/>
              </a:rPr>
              <a:t>JEED 高齢者助成金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2715768" y="387961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>
                <a:solidFill>
                  <a:srgbClr val="111111"/>
                </a:solidFill>
                <a:latin typeface="Noto Sans CJK KR"/>
              </a:rPr>
              <a:t>고령자 고용환경 개선·무기전환 등 기업지원 성격. 직접적인 주간 방문 급여 재원은 아님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34595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457455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550" b="1">
                <a:solidFill>
                  <a:srgbClr val="C1121F"/>
                </a:solidFill>
                <a:latin typeface="Noto Sans CJK KR"/>
              </a:rPr>
              <a:t>결론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2715768" y="459284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>
                <a:solidFill>
                  <a:srgbClr val="111111"/>
                </a:solidFill>
                <a:latin typeface="Noto Sans CJK KR"/>
              </a:rPr>
              <a:t>초기에는 Owner Subscription + Municipal Pilot + Silver Center/NPO 파트너십의 혼합 재원으로 검증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05918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Shape 22"/>
          <p:cNvSpPr/>
          <p:nvPr/>
        </p:nvSpPr>
        <p:spPr>
          <a:xfrm>
            <a:off x="566928" y="530352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566928" y="54681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급여 문제의 핵심은 “정부가 전액 지급하는가”가 아니라, 주간점검 업무를 구독·위탁·파트너 구조로 안정적으로 묶는 것이다.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/ RISK MANAGEMENT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리스크와 컴플라이언스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risk analysis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45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AI가 법률·부동산 판단을 과도하게 대체하거나, 고령층을 위험한 현장에 보내면 안 된다. 역할 경계를 명확히 해야 한다.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12648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리스크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898648" y="1645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대응 원칙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21284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612648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법률자문 오인</a:t>
            </a:r>
            <a:endParaRPr lang="en-US" sz="1230" dirty="0"/>
          </a:p>
        </p:txBody>
      </p:sp>
      <p:sp>
        <p:nvSpPr>
          <p:cNvPr id="14" name="Text 12"/>
          <p:cNvSpPr txBox="1"/>
          <p:nvPr/>
        </p:nvSpPr>
        <p:spPr>
          <a:xfrm>
            <a:off x="2898648" y="22860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AI는 안내·정리·초안·전문가 연결만 수행. 최종 법률판단은 자격 전문가가 담당.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612648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개인정보·등기정보</a:t>
            </a:r>
            <a:endParaRPr lang="en-US" sz="1230" dirty="0"/>
          </a:p>
        </p:txBody>
      </p:sp>
      <p:sp>
        <p:nvSpPr>
          <p:cNvPr id="17" name="Text 15"/>
          <p:cNvSpPr txBox="1"/>
          <p:nvPr/>
        </p:nvSpPr>
        <p:spPr>
          <a:xfrm>
            <a:off x="2898648" y="29260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최소수집, 동의 기반, 접근권한 분리, 방문 로그와 사진 데이터 보관정책.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66928" y="349300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 txBox="1"/>
          <p:nvPr/>
        </p:nvSpPr>
        <p:spPr>
          <a:xfrm>
            <a:off x="612648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현장 안전</a:t>
            </a:r>
            <a:endParaRPr lang="en-US" sz="1230" dirty="0"/>
          </a:p>
        </p:txBody>
      </p:sp>
      <p:sp>
        <p:nvSpPr>
          <p:cNvPr id="20" name="Text 18"/>
          <p:cNvSpPr txBox="1"/>
          <p:nvPr/>
        </p:nvSpPr>
        <p:spPr>
          <a:xfrm>
            <a:off x="2898648" y="35661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고위험 건물 내부 진입 금지, 외관 중심 점검, 2인 방문 기준, 긴급 연락 체계.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566928" y="413308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12648" y="4206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고령층 노동·보험</a:t>
            </a:r>
            <a:endParaRPr lang="en-US" sz="1230" dirty="0"/>
          </a:p>
        </p:txBody>
      </p:sp>
      <p:sp>
        <p:nvSpPr>
          <p:cNvPr id="23" name="Text 21"/>
          <p:cNvSpPr txBox="1"/>
          <p:nvPr/>
        </p:nvSpPr>
        <p:spPr>
          <a:xfrm>
            <a:off x="2898648" y="4206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파트타임/업무위탁/센터연계의 법적 지위, 산재·상해보험, 근로시간과 보상 기준 설계.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566928" y="477316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612648" y="4846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품질 편차</a:t>
            </a:r>
            <a:endParaRPr lang="en-US" sz="1230" dirty="0"/>
          </a:p>
        </p:txBody>
      </p:sp>
      <p:sp>
        <p:nvSpPr>
          <p:cNvPr id="26" name="Text 24"/>
          <p:cNvSpPr txBox="1"/>
          <p:nvPr/>
        </p:nvSpPr>
        <p:spPr>
          <a:xfrm>
            <a:off x="2898648" y="4846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30">
                <a:solidFill>
                  <a:srgbClr val="111111"/>
                </a:solidFill>
                <a:latin typeface="Noto Sans CJK KR"/>
              </a:rPr>
              <a:t>표준 체크리스트, 사진 각도 가이드, AI 누락 검수, 재방문·에스컬레이션 프로토콜.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566928" y="5413248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566928" y="536752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핵심 원칙: AI는 전문가를 대체하지 않고, 지역 인력이 안전하게 일할 수 있는 기준을 만든다.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 / DIFFERENTIATION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차별화: 매물 DB가 아니라 지역 일자리 운영체제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analysis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기존 플랫폼이 “집을 보여주는 곳”이라면, 이 모델은 “문서를 정리하고 주간 점검 일감을 만드는 곳”이다.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566928" y="1572768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 txBox="1"/>
          <p:nvPr/>
        </p:nvSpPr>
        <p:spPr>
          <a:xfrm>
            <a:off x="612648" y="1645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접근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824728" y="1645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11111"/>
                </a:solidFill>
                <a:latin typeface="Noto Sans CJK KR"/>
              </a:rPr>
              <a:t>AI Document + Local Work Platform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21284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612648" y="2286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매물 등록/검색 중심</a:t>
            </a:r>
            <a:endParaRPr lang="en-US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5824728" y="2286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80">
                <a:solidFill>
                  <a:srgbClr val="111111"/>
                </a:solidFill>
                <a:latin typeface="Noto Sans CJK KR"/>
              </a:rPr>
              <a:t>서류·권리·상태·위험·주간점검 업무 통합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 txBox="1"/>
          <p:nvPr/>
        </p:nvSpPr>
        <p:spPr>
          <a:xfrm>
            <a:off x="612648" y="2926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거래 가능 매물만 다루기 쉬움</a:t>
            </a:r>
            <a:endParaRPr lang="en-US" sz="1280" dirty="0"/>
          </a:p>
        </p:txBody>
      </p:sp>
      <p:sp>
        <p:nvSpPr>
          <p:cNvPr id="17" name="Text 15"/>
          <p:cNvSpPr txBox="1"/>
          <p:nvPr/>
        </p:nvSpPr>
        <p:spPr>
          <a:xfrm>
            <a:off x="5824728" y="29260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80">
                <a:solidFill>
                  <a:srgbClr val="111111"/>
                </a:solidFill>
                <a:latin typeface="Noto Sans CJK KR"/>
              </a:rPr>
              <a:t>거래 전 단계의 복잡한 빈집과 방치 위험을 다룸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66928" y="349300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 txBox="1"/>
          <p:nvPr/>
        </p:nvSpPr>
        <p:spPr>
          <a:xfrm>
            <a:off x="612648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부동산업자 중심</a:t>
            </a:r>
            <a:endParaRPr lang="en-US" sz="128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5661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80">
                <a:solidFill>
                  <a:srgbClr val="111111"/>
                </a:solidFill>
                <a:latin typeface="Noto Sans CJK KR"/>
              </a:rPr>
              <a:t>소유자·지자체·전문가·고령층/파트타임 인력 네트워크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566928" y="413308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612648" y="4206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일회성 거래</a:t>
            </a:r>
            <a:endParaRPr lang="en-US" sz="1280" dirty="0"/>
          </a:p>
        </p:txBody>
      </p:sp>
      <p:sp>
        <p:nvSpPr>
          <p:cNvPr id="23" name="Text 21"/>
          <p:cNvSpPr txBox="1"/>
          <p:nvPr/>
        </p:nvSpPr>
        <p:spPr>
          <a:xfrm>
            <a:off x="5824728" y="4206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80">
                <a:solidFill>
                  <a:srgbClr val="111111"/>
                </a:solidFill>
                <a:latin typeface="Noto Sans CJK KR"/>
              </a:rPr>
              <a:t>반복 방문, 사진 리포트, 계절 추가관리, 안전 에스컬레이션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566928" y="477316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612648" y="4846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 제공</a:t>
            </a:r>
            <a:endParaRPr lang="en-US" sz="1280" dirty="0"/>
          </a:p>
        </p:txBody>
      </p:sp>
      <p:sp>
        <p:nvSpPr>
          <p:cNvPr id="26" name="Text 24"/>
          <p:cNvSpPr txBox="1"/>
          <p:nvPr/>
        </p:nvSpPr>
        <p:spPr>
          <a:xfrm>
            <a:off x="5824728" y="4846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80">
                <a:solidFill>
                  <a:srgbClr val="111111"/>
                </a:solidFill>
                <a:latin typeface="Noto Sans CJK KR"/>
              </a:rPr>
              <a:t>다음 행동 제안과 지역 일자리 배정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566928" y="5413248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6"/>
          <p:cNvSpPr/>
          <p:nvPr/>
        </p:nvSpPr>
        <p:spPr>
          <a:xfrm>
            <a:off x="566928" y="5367528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도시형 아키야의 병목은 정보 부족보다 “누가 가서 확인할 것인가”의 문제다.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/ ROADMAP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 로드맵: 세타가야에서 도쿄권으로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Business model proposal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47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초기에는 세타가야 같은 고가·상속·노후주택이 겹치는 지역에서 검증하고, 이후 지역 근로자 공급과 지자체 수요가 있는 도쿄권으로 확장한다.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5667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9507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Setagaya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71376"/>
            <a:ext cx="1911096" cy="67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현장조사 데이터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고가주거지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도시형 파일럿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2560320" y="3042192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 txBox="1"/>
          <p:nvPr/>
        </p:nvSpPr>
        <p:spPr>
          <a:xfrm>
            <a:off x="2761488" y="25667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29507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Tokyo 23 wards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371376"/>
            <a:ext cx="1911096" cy="67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杉並·中野·大田·練馬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도시형 주거지 확장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754880" y="3042192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4956048" y="25667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56048" y="29507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Tokyo metro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371376"/>
            <a:ext cx="1911096" cy="67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横浜·川崎·多摩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통근권 단독주택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949440" y="3042192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7150608" y="25667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9507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Other cities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371376"/>
            <a:ext cx="1911096" cy="67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京都·大阪·神戸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관광/노후주택 혼합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144000" y="3042192"/>
            <a:ext cx="182880" cy="0"/>
          </a:xfrm>
          <a:prstGeom prst="line">
            <a:avLst/>
          </a:prstGeom>
          <a:noFill/>
          <a:ln w="1905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 txBox="1"/>
          <p:nvPr/>
        </p:nvSpPr>
        <p:spPr>
          <a:xfrm>
            <a:off x="9345168" y="25667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29507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Asia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3371376"/>
            <a:ext cx="1911096" cy="679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한국·대만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고령화·상속형 주택 문제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66928" y="5248656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 txBox="1"/>
          <p:nvPr/>
        </p:nvSpPr>
        <p:spPr>
          <a:xfrm>
            <a:off x="566928" y="54132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111111"/>
                </a:solidFill>
                <a:latin typeface="Noto Sans CJK KR"/>
              </a:rPr>
              <a:t>확장은 “빈집 수가 많은 곳”이 아니라 문서 복잡성 + 현장관리 수요 + 지역 근로자 공급 + 지불능력이 동시에 있는 곳부터.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 / CLOSING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메시지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総務省統計局 住宅・土地統計調査, 東京都 令和5年住宅・土地統計調査, 世田谷区 第二次空家等対策計画, 国交省, 法務省, LIFULL HOME'S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48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3716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sz="3100" b="1">
                <a:solidFill>
                  <a:srgbClr val="111111"/>
                </a:solidFill>
                <a:latin typeface="Noto Sans CJK KR"/>
              </a:rPr>
              <a:t>도쿄 도심의 빈집은 단순한 부동산 문제가 아니다.</a:t>
            </a:r>
            <a:endParaRPr lang="en-US" sz="3100" dirty="0"/>
          </a:p>
          <a:p>
            <a:pPr algn="l"/>
            <a:r>
              <a:rPr sz="3100" b="1">
                <a:solidFill>
                  <a:srgbClr val="111111"/>
                </a:solidFill>
                <a:latin typeface="Noto Sans CJK KR"/>
              </a:rPr>
              <a:t>관리되지 못한 도시 안전 리스크이자, 지역 주민에게 만들 수 있는 새로운 일자리다.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566928" y="297180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sz="1850">
                <a:solidFill>
                  <a:srgbClr val="111111"/>
                </a:solidFill>
                <a:latin typeface="Noto Sans CJK KR"/>
              </a:rPr>
              <a:t>세타가야 사례는 빈집 문제가 주택 가격, 상속, 고령화, 노후 건물, 재난위험, 행정절차가 겹친 도시 문제임을 보여준다.</a:t>
            </a:r>
            <a:endParaRPr lang="en-US" sz="1850" dirty="0"/>
          </a:p>
          <a:p>
            <a:pPr algn="l"/>
            <a:endParaRPr lang="en-US" sz="1850" dirty="0"/>
          </a:p>
          <a:p>
            <a:pPr algn="l"/>
            <a:r>
              <a:rPr sz="1850">
                <a:solidFill>
                  <a:srgbClr val="111111"/>
                </a:solidFill>
                <a:latin typeface="Noto Sans CJK KR"/>
              </a:rPr>
              <a:t>AI는 복잡한 문서와 판단을 정리하고, 지역 Akiya Manager는 주 1회 현장을 확인한다. 이 둘을 연결하면 빈집 위험을 줄이고 건강한 고령층·파트타임 인력에게 의미 있는 지역 일자리를 만들 수 있다.</a:t>
            </a:r>
          </a:p>
        </p:txBody>
      </p:sp>
      <p:sp>
        <p:nvSpPr>
          <p:cNvPr id="10" name="Shape 8"/>
          <p:cNvSpPr/>
          <p:nvPr/>
        </p:nvSpPr>
        <p:spPr>
          <a:xfrm>
            <a:off x="566928" y="4892040"/>
            <a:ext cx="10972800" cy="0"/>
          </a:xfrm>
          <a:prstGeom prst="line">
            <a:avLst/>
          </a:prstGeom>
          <a:noFill/>
          <a:ln w="1016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 txBox="1"/>
          <p:nvPr/>
        </p:nvSpPr>
        <p:spPr>
          <a:xfrm>
            <a:off x="566928" y="5212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C1121F"/>
                </a:solidFill>
                <a:latin typeface="Noto Sans CJK KR"/>
              </a:rPr>
              <a:t>From vacant houses to safer cities, and from aging to meaningful local work.</a:t>
            </a:r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/ SOURCES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출처 1 / 공식 통계·정책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Full source list for research grounding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49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발표자료 안의 수치와 정책 설명은 아래 공식자료와 업로드된 조사 리포트를 기준으로 정리했다.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15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総務省統計局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193428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令和5年住宅・土地統計調査 / 住宅数・空き家数・所有関係・建て方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66928" y="2216679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566928" y="2556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東京都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624328" y="257436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令和5年住宅・土地統計調査 結果の概要 / 東京都の空き家 896,500戸・10.9%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66928" y="2856759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566928" y="319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世田谷区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624328" y="321444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第二次空家等対策計画 / 空家等883棟, A/B/C/D分類, 所有者アンケート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66928" y="3496839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836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国土交通省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624328" y="385452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空き家対策特設サイト / 放置リスク, 空家法, 管理, 相談, 適切な管理の必要性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66928" y="4136919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4476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国土交通省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2624328" y="449460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令和7年地価公示 / 東京圏市区住宅地平均価格, 世田谷区724,100円/㎡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66928" y="4776999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566928" y="51163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法務省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2624328" y="513468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相続登記の申請義務化 / 2024-04-01開始, 3年内申請, 10万円以下の過料, 2026-02-02制度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566928" y="5417079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/ SOURCES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2900" b="1">
                <a:solidFill>
                  <a:srgbClr val="111111"/>
                </a:solidFill>
                <a:latin typeface="Noto Sans CJK KR"/>
              </a:rPr>
              <a:t>주요 출처 2 / 시장·고용·AI 데이터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Full source list for research grounding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50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234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60">
                <a:solidFill>
                  <a:srgbClr val="666666"/>
                </a:solidFill>
                <a:latin typeface="Noto Sans CJK KR"/>
              </a:rPr>
              <a:t>민간 포털 가격·월세 수치는 시장 참고지표이며, 고용·AI 설계는 공공정책 자료와 사업가설을 함께 사용했다.</a:t>
            </a:r>
            <a:endParaRPr lang="en-US" sz="136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64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C1121F"/>
                </a:solidFill>
                <a:latin typeface="Noto Sans CJK KR"/>
              </a:rPr>
              <a:t>LIFULL HOME'S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168249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世田谷区 家賃·土地·中古一戸建て相場 / 민간 포털 기반 참고지표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66928" y="212140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566928" y="2377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C1121F"/>
                </a:solidFill>
                <a:latin typeface="Noto Sans CJK KR"/>
              </a:rPr>
              <a:t>国土交通省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310128" y="23957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空き家DBシステム標準仕様書 2025.04 / 지자체 빈집 데이터·업무흐름 표준화 근거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66928" y="283464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566928" y="3090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C1121F"/>
                </a:solidFill>
                <a:latin typeface="Noto Sans CJK KR"/>
              </a:rPr>
              <a:t>国土交通省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310128" y="31089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空き家対策総合支援事業・空き家対策モデル事業 / 지자체·민간·NPO 파일럿 가능성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66928" y="354787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566928" y="38039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C1121F"/>
                </a:solidFill>
                <a:latin typeface="Noto Sans CJK KR"/>
              </a:rPr>
              <a:t>シルバー人材センター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310128" y="382219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고령층의 임시·단기·경미 업무, 건물관리·청소·제초 등 유사 업무 인프라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66928" y="426110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566928" y="45171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350" b="1">
                <a:solidFill>
                  <a:srgbClr val="111111"/>
                </a:solidFill>
                <a:latin typeface="Noto Sans CJK KR"/>
              </a:rPr>
              <a:t>AI technical assumptions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310128" y="453542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220">
                <a:solidFill>
                  <a:srgbClr val="111111"/>
                </a:solidFill>
                <a:latin typeface="Noto Sans CJK KR"/>
              </a:rPr>
              <a:t>LLM/RAG, Vision Model, Tabular Risk ML, Routing Engine은 공식 통계와 현장 데이터로 검증해야 하는 사업가설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66928" y="497433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566928" y="548640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150">
                <a:solidFill>
                  <a:srgbClr val="666666"/>
                </a:solidFill>
                <a:latin typeface="Noto Sans CJK KR"/>
              </a:rPr>
              <a:t>Note: 2025년 현재 최신 공식 주택·토지통계조사는 2023년 조사이며, 2025년에는 해당 조사 결과의 추가 공표·정책자료와 空き家DB 표준사양이 최신 근거가 된다.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1121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APPENDIX / DATA SNAPSHOT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566928" y="603504"/>
            <a:ext cx="822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4" name="Text 2"/>
          <p:cNvSpPr txBox="1"/>
          <p:nvPr/>
        </p:nvSpPr>
        <p:spPr>
          <a:xfrm>
            <a:off x="566928" y="676656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부록: 핵심 수치 요약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Sources: 総務省統計局 住宅・土地統計調査, 東京都 令和5年住宅・土地統計調査, 世田谷区 第二次空家等対策計画, 国交省, 法務省, LIFULL HOME'S</a:t>
            </a:r>
            <a:endParaRPr lang="en-US" sz="65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51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10972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 txBox="1"/>
          <p:nvPr/>
        </p:nvSpPr>
        <p:spPr>
          <a:xfrm>
            <a:off x="612648" y="139903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3721608" y="13990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수치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566928" y="185623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 txBox="1"/>
          <p:nvPr/>
        </p:nvSpPr>
        <p:spPr>
          <a:xfrm>
            <a:off x="612648" y="19293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Japan national vacant dwellings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192938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9.002M / 13.8% / 2023 Housing and Land Survey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38658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612648" y="24597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Japan policy-focused stock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721608" y="245973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3.85M / 5.9% / excluding rent, sale, secondary homes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291693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 txBox="1"/>
          <p:nvPr/>
        </p:nvSpPr>
        <p:spPr>
          <a:xfrm>
            <a:off x="612648" y="299008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Tokyo vacant dwellings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721608" y="29900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896,500 / 10.9% / +86,600 vs 2018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447288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 txBox="1"/>
          <p:nvPr/>
        </p:nvSpPr>
        <p:spPr>
          <a:xfrm>
            <a:off x="612648" y="35204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Setagaya vacant dwellings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721608" y="3520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58,850 / approx. 10.9% / 2023 ward-level official table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977640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 txBox="1"/>
          <p:nvPr/>
        </p:nvSpPr>
        <p:spPr>
          <a:xfrm>
            <a:off x="612648" y="405079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Setagaya field-verified 空家等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721608" y="40507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883 buildings / A 2, B 156, C 211, D 514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507992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 txBox="1"/>
          <p:nvPr/>
        </p:nvSpPr>
        <p:spPr>
          <a:xfrm>
            <a:off x="612648" y="458114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Setagaya land price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721608" y="4581144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¥724,100/m² average residential land price / 2025 MLIT public land price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038344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 txBox="1"/>
          <p:nvPr/>
        </p:nvSpPr>
        <p:spPr>
          <a:xfrm>
            <a:off x="612648" y="51114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Setagaya owner survey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1608" y="5111496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815 sent, 240 responses, 29.4% response rate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568696"/>
            <a:ext cx="1097280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33" name="Text 31"/>
          <p:cNvSpPr txBox="1"/>
          <p:nvPr/>
        </p:nvSpPr>
        <p:spPr>
          <a:xfrm>
            <a:off x="612648" y="56418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150">
                <a:solidFill>
                  <a:srgbClr val="111111"/>
                </a:solidFill>
                <a:latin typeface="Noto Sans CJK KR"/>
              </a:rPr>
              <a:t>Service focus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721608" y="56418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sz="1150">
                <a:solidFill>
                  <a:srgbClr val="111111"/>
                </a:solidFill>
                <a:latin typeface="Noto Sans CJK KR"/>
              </a:rPr>
              <a:t>AI document support + weekly monitoring jobs / 기본 주 1회, 여름·장마 주 2회, 고위험은 전문가 연결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6099048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515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993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C1121F"/>
                </a:solidFill>
                <a:latin typeface="Noto Sans CJK KR"/>
              </a:rPr>
              <a:t>AI Document + Local Jobs Platform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89517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2200" b="1" dirty="0" err="1">
                <a:solidFill>
                  <a:srgbClr val="111111"/>
                </a:solidFill>
                <a:latin typeface="Noto Sans CJK KR"/>
              </a:rPr>
              <a:t>空き家を、地域の仕事へ</a:t>
            </a:r>
            <a:r>
              <a:rPr sz="2200" b="1" dirty="0">
                <a:solidFill>
                  <a:srgbClr val="111111"/>
                </a:solidFill>
                <a:latin typeface="Noto Sans CJK KR"/>
              </a:rPr>
              <a:t>。</a:t>
            </a:r>
            <a:endParaRPr lang="en-US" sz="2200" dirty="0"/>
          </a:p>
          <a:p>
            <a:pPr algn="ctr"/>
            <a:r>
              <a:rPr sz="2200" b="1" dirty="0" err="1">
                <a:solidFill>
                  <a:srgbClr val="111111"/>
                </a:solidFill>
                <a:latin typeface="Noto Sans CJK KR"/>
              </a:rPr>
              <a:t>빈집</a:t>
            </a:r>
            <a:r>
              <a:rPr sz="22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2200" b="1" dirty="0" err="1">
                <a:solidFill>
                  <a:srgbClr val="111111"/>
                </a:solidFill>
                <a:latin typeface="Noto Sans CJK KR"/>
              </a:rPr>
              <a:t>문제를</a:t>
            </a:r>
            <a:r>
              <a:rPr sz="22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2200" b="1" dirty="0" err="1">
                <a:solidFill>
                  <a:srgbClr val="111111"/>
                </a:solidFill>
                <a:latin typeface="Noto Sans CJK KR"/>
              </a:rPr>
              <a:t>지역</a:t>
            </a:r>
            <a:r>
              <a:rPr sz="2200" b="1" dirty="0">
                <a:solidFill>
                  <a:srgbClr val="111111"/>
                </a:solidFill>
                <a:latin typeface="Noto Sans CJK KR"/>
              </a:rPr>
              <a:t> </a:t>
            </a:r>
            <a:r>
              <a:rPr sz="2200" b="1" dirty="0" err="1">
                <a:solidFill>
                  <a:srgbClr val="111111"/>
                </a:solidFill>
                <a:latin typeface="Noto Sans CJK KR"/>
              </a:rPr>
              <a:t>일자리로</a:t>
            </a:r>
            <a:r>
              <a:rPr sz="2200" b="1" dirty="0">
                <a:solidFill>
                  <a:srgbClr val="111111"/>
                </a:solidFill>
                <a:latin typeface="Noto Sans CJK KR"/>
              </a:rPr>
              <a:t>.</a:t>
            </a:r>
          </a:p>
        </p:txBody>
      </p:sp>
      <p:sp>
        <p:nvSpPr>
          <p:cNvPr id="5" name="Shape 3"/>
          <p:cNvSpPr/>
          <p:nvPr/>
        </p:nvSpPr>
        <p:spPr>
          <a:xfrm>
            <a:off x="3977640" y="4251960"/>
            <a:ext cx="4251960" cy="0"/>
          </a:xfrm>
          <a:prstGeom prst="line">
            <a:avLst/>
          </a:prstGeom>
          <a:noFill/>
          <a:ln w="27940">
            <a:solidFill>
              <a:srgbClr val="C1121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 txBox="1"/>
          <p:nvPr/>
        </p:nvSpPr>
        <p:spPr>
          <a:xfrm>
            <a:off x="566928" y="46634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666666"/>
                </a:solidFill>
                <a:latin typeface="Noto Sans CJK KR"/>
              </a:rPr>
              <a:t>Tokyo · Setagaya · Aging society · AI paperwork · Local jobs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6501384"/>
            <a:ext cx="11057839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 txBox="1"/>
          <p:nvPr/>
        </p:nvSpPr>
        <p:spPr>
          <a:xfrm>
            <a:off x="566928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End of deck</a:t>
            </a:r>
            <a:endParaRPr lang="en-US" sz="65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547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6509</Words>
  <Application>Microsoft Macintosh PowerPoint</Application>
  <PresentationFormat>Widescreen</PresentationFormat>
  <Paragraphs>1065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Noto Sans CJK KR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ASIA IMPACT NEXUS TOKYO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Tokyo Urban Akiya Management — Research &amp; Business Proposal</dc:title>
  <dc:subject>Tokyo urban vacant houses and AI akiya management business research</dc:subject>
  <dc:creator>OpenAI / HB</dc:creator>
  <cp:lastModifiedBy>남정훈</cp:lastModifiedBy>
  <cp:revision>180</cp:revision>
  <dcterms:created xsi:type="dcterms:W3CDTF">2026-06-04T11:06:08Z</dcterms:created>
  <dcterms:modified xsi:type="dcterms:W3CDTF">2026-06-05T03:36:27Z</dcterms:modified>
</cp:coreProperties>
</file>