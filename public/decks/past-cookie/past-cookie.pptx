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0" r:id="rId2"/>
    <p:sldId id="456" r:id="rId3"/>
    <p:sldId id="457" r:id="rId4"/>
    <p:sldId id="458" r:id="rId5"/>
    <p:sldId id="466" r:id="rId6"/>
    <p:sldId id="465" r:id="rId7"/>
    <p:sldId id="459" r:id="rId8"/>
    <p:sldId id="460" r:id="rId9"/>
    <p:sldId id="461" r:id="rId10"/>
    <p:sldId id="462" r:id="rId11"/>
    <p:sldId id="463" r:id="rId1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DF2E1"/>
    <a:srgbClr val="2A4470"/>
    <a:srgbClr val="232D3D"/>
    <a:srgbClr val="00194C"/>
    <a:srgbClr val="9999FF"/>
    <a:srgbClr val="CC99FF"/>
    <a:srgbClr val="1A109C"/>
    <a:srgbClr val="8FAADC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8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67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564"/>
    </p:cViewPr>
  </p:sorterViewPr>
  <p:notesViewPr>
    <p:cSldViewPr snapToGrid="0">
      <p:cViewPr varScale="1">
        <p:scale>
          <a:sx n="80" d="100"/>
          <a:sy n="80" d="100"/>
        </p:scale>
        <p:origin x="401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245D0-01CD-4B12-983D-964B1C2E6C23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8967-FB44-433F-8247-308305C7D7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266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1"/>
            <a:ext cx="2945660" cy="498056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546732E3-53E6-4717-9B94-A6E7998A2CA3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04" tIns="45752" rIns="91504" bIns="4575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504" tIns="45752" rIns="91504" bIns="4575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627F6366-0551-4D17-819E-C7772D9865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2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0688" y="1239838"/>
            <a:ext cx="5956300" cy="335121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7F6366-0551-4D17-819E-C7772D98650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6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93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607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94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BF3E-96BE-36F3-132B-F8F0771D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A25818-6F91-59F0-9A41-A2E3C2FC8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BDC5E7-B2E1-9128-D3C3-23864000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0EFA99-B100-452C-29B4-8C0B3E7DD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498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6CAEA-4C8F-CE3C-4D9D-6E7308DA6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C622D-D1F1-E74A-C5FC-C845AFA9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9F7195-08AE-601D-D487-89EC78D2A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31F68-F506-069D-114B-966CAA85D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871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839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905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90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16A3-6350-494C-F238-CFD8A942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DA6AA8-7AEC-99A9-6653-3C329D0D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86400" cy="3087688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E566A-A9A8-E978-4269-C8338EE41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881B9-C8DA-D0BD-6DB1-EF9A09177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A78759-A36B-0749-837C-5E6C8189DD6D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00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6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0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46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95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99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11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82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20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59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12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738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3AE2BC4-951B-9E6F-FFA9-BEC44012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69501" y="6490911"/>
            <a:ext cx="331604" cy="365125"/>
          </a:xfrm>
          <a:prstGeom prst="rect">
            <a:avLst/>
          </a:prstGeom>
          <a:noFill/>
        </p:spPr>
        <p:txBody>
          <a:bodyPr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fld id="{FD0A10F0-CFF0-0D40-9C8C-F20E3D47AC18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9" name="내용 개체 틀 856">
            <a:extLst>
              <a:ext uri="{FF2B5EF4-FFF2-40B4-BE49-F238E27FC236}">
                <a16:creationId xmlns:a16="http://schemas.microsoft.com/office/drawing/2014/main" id="{E1A7D292-544E-66A7-F9C7-396C03F0D53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8302" y="680586"/>
            <a:ext cx="11713998" cy="3328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>
                <a:solidFill>
                  <a:srgbClr val="2F486F"/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ko-KR" dirty="0"/>
              <a:t>Headline -20pt</a:t>
            </a:r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04EFB48-A2B7-62CC-80DD-7E39386149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13681" y="6429527"/>
            <a:ext cx="595899" cy="262196"/>
          </a:xfrm>
          <a:prstGeom prst="rect">
            <a:avLst/>
          </a:prstGeom>
        </p:spPr>
      </p:pic>
      <p:sp>
        <p:nvSpPr>
          <p:cNvPr id="12" name="내용 개체 틀 856">
            <a:extLst>
              <a:ext uri="{FF2B5EF4-FFF2-40B4-BE49-F238E27FC236}">
                <a16:creationId xmlns:a16="http://schemas.microsoft.com/office/drawing/2014/main" id="{E0702460-EB11-24AD-FAE9-F66C60634BB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78302" y="126649"/>
            <a:ext cx="11713998" cy="25363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1" b="1" i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ko-KR" dirty="0"/>
              <a:t>Headline -14pt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CF0C4-2B5F-08AC-6DC1-EC0F1AB5A315}"/>
              </a:ext>
            </a:extLst>
          </p:cNvPr>
          <p:cNvSpPr/>
          <p:nvPr userDrawn="1"/>
        </p:nvSpPr>
        <p:spPr>
          <a:xfrm>
            <a:off x="0" y="1966"/>
            <a:ext cx="12192000" cy="503001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bg1"/>
              </a:gs>
              <a:gs pos="67000">
                <a:schemeClr val="accent5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401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6168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개체 틀 26">
            <a:extLst>
              <a:ext uri="{FF2B5EF4-FFF2-40B4-BE49-F238E27FC236}">
                <a16:creationId xmlns:a16="http://schemas.microsoft.com/office/drawing/2014/main" id="{9CB8EF28-E13B-574B-BAEA-E07BD8EF89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" b="6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4DC2898-D13A-D244-98C7-2406C1F60CD3}"/>
              </a:ext>
            </a:extLst>
          </p:cNvPr>
          <p:cNvSpPr/>
          <p:nvPr userDrawn="1"/>
        </p:nvSpPr>
        <p:spPr>
          <a:xfrm>
            <a:off x="0" y="3085187"/>
            <a:ext cx="12192000" cy="3772812"/>
          </a:xfrm>
          <a:prstGeom prst="rect">
            <a:avLst/>
          </a:prstGeom>
          <a:solidFill>
            <a:schemeClr val="bg2">
              <a:lumMod val="25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 dirty="0">
              <a:solidFill>
                <a:srgbClr val="FF8846"/>
              </a:solidFill>
              <a:latin typeface="+mn-lt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9202250-FB96-DF49-A850-2BAB80BC774A}"/>
              </a:ext>
            </a:extLst>
          </p:cNvPr>
          <p:cNvSpPr/>
          <p:nvPr userDrawn="1"/>
        </p:nvSpPr>
        <p:spPr>
          <a:xfrm>
            <a:off x="0" y="0"/>
            <a:ext cx="12192000" cy="3085190"/>
          </a:xfrm>
          <a:prstGeom prst="rect">
            <a:avLst/>
          </a:prstGeom>
          <a:solidFill>
            <a:srgbClr val="2E307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 dirty="0">
              <a:solidFill>
                <a:srgbClr val="FF8846"/>
              </a:solidFill>
              <a:latin typeface="+mn-lt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64628844-A5C8-4E42-B38F-792EBA8E1B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9864"/>
          <a:stretch/>
        </p:blipFill>
        <p:spPr>
          <a:xfrm>
            <a:off x="11417715" y="6473628"/>
            <a:ext cx="500070" cy="240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5FBF63-0668-204F-8163-6205E75DDE29}"/>
              </a:ext>
            </a:extLst>
          </p:cNvPr>
          <p:cNvSpPr txBox="1"/>
          <p:nvPr userDrawn="1"/>
        </p:nvSpPr>
        <p:spPr>
          <a:xfrm>
            <a:off x="3675234" y="2297045"/>
            <a:ext cx="4812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en-US" altLang="ko-KR" sz="4000" b="1" kern="0" dirty="0">
                <a:solidFill>
                  <a:sysClr val="window" lastClr="FFFFFF"/>
                </a:solidFill>
                <a:latin typeface="맑은 고딕"/>
                <a:cs typeface="Calibri" panose="020F0502020204030204" pitchFamily="34" charset="0"/>
              </a:rPr>
              <a:t>THANK YOU</a:t>
            </a:r>
            <a:endParaRPr lang="ko-KR" altLang="en-US" sz="4000" b="1" kern="0" dirty="0">
              <a:solidFill>
                <a:sysClr val="window" lastClr="FFFFFF"/>
              </a:solidFill>
              <a:latin typeface="맑은 고딕"/>
              <a:cs typeface="Calibri" panose="020F0502020204030204" pitchFamily="34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065608" y="3089131"/>
            <a:ext cx="3993004" cy="0"/>
          </a:xfrm>
          <a:prstGeom prst="line">
            <a:avLst/>
          </a:prstGeom>
          <a:noFill/>
          <a:ln w="19050" cap="flat" cmpd="sng" algn="ctr">
            <a:solidFill>
              <a:sysClr val="window" lastClr="FFFFFF"/>
            </a:solidFill>
            <a:prstDash val="solid"/>
          </a:ln>
          <a:effectLst/>
        </p:spPr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E90DFD55-B1A1-05FD-55B5-A308C68E5C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16274" y="5927988"/>
            <a:ext cx="2463800" cy="812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367" y="5874081"/>
            <a:ext cx="2743199" cy="119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0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7F3C6-5242-43E6-87BE-6C536190AC29}" type="datetimeFigureOut">
              <a:rPr lang="ko-KR" altLang="en-US" smtClean="0"/>
              <a:t>2026. 5. 28.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2BBDD-86A4-42A0-94C9-1666D33651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54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8" r:id="rId12"/>
    <p:sldLayoutId id="2147483679" r:id="rId13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tureme.org/" TargetMode="External"/><Relationship Id="rId7" Type="http://schemas.openxmlformats.org/officeDocument/2006/relationships/hyperlink" Target="https://www.w3.org/TR/vc-data-model-2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w3.org/TR/did-1.0/" TargetMode="External"/><Relationship Id="rId5" Type="http://schemas.openxmlformats.org/officeDocument/2006/relationships/hyperlink" Target="https://www.forever.com/" TargetMode="External"/><Relationship Id="rId4" Type="http://schemas.openxmlformats.org/officeDocument/2006/relationships/hyperlink" Target="https://www.timehop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한쪽 모서리는 잘리고 다른 쪽 모서리는 둥근 사각형 1">
            <a:extLst>
              <a:ext uri="{FF2B5EF4-FFF2-40B4-BE49-F238E27FC236}">
                <a16:creationId xmlns:a16="http://schemas.microsoft.com/office/drawing/2014/main" id="{FA9218BD-C6DB-F142-968C-E3B4A3E1748D}"/>
              </a:ext>
            </a:extLst>
          </p:cNvPr>
          <p:cNvSpPr/>
          <p:nvPr/>
        </p:nvSpPr>
        <p:spPr>
          <a:xfrm rot="10800000" flipH="1">
            <a:off x="0" y="0"/>
            <a:ext cx="12192000" cy="6862121"/>
          </a:xfrm>
          <a:prstGeom prst="snipRoundRect">
            <a:avLst>
              <a:gd name="adj1" fmla="val 0"/>
              <a:gd name="adj2" fmla="val 0"/>
            </a:avLst>
          </a:prstGeom>
          <a:solidFill>
            <a:srgbClr val="2E307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63" dirty="0">
                <a:solidFill>
                  <a:srgbClr val="F9E76C"/>
                </a:solidFill>
              </a:rPr>
              <a:t> </a:t>
            </a:r>
            <a:r>
              <a:rPr kumimoji="1" lang="en-US" altLang="ko-KR" sz="1463" dirty="0">
                <a:solidFill>
                  <a:srgbClr val="F9E76C"/>
                </a:solidFill>
              </a:rPr>
              <a:t> </a:t>
            </a:r>
            <a:endParaRPr kumimoji="1" lang="ko-KR" altLang="en-US" sz="1463" dirty="0">
              <a:solidFill>
                <a:srgbClr val="F9E76C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E97E325-2F6E-D542-AA5B-46150E003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12192000" cy="5170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59EA83-506E-854B-BD83-64118B6D28E0}"/>
              </a:ext>
            </a:extLst>
          </p:cNvPr>
          <p:cNvSpPr txBox="1"/>
          <p:nvPr/>
        </p:nvSpPr>
        <p:spPr>
          <a:xfrm>
            <a:off x="512339" y="282760"/>
            <a:ext cx="84053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모바일신분증을 활용한</a:t>
            </a:r>
            <a:endParaRPr lang="en-US" altLang="ko-KR" sz="1200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2026 </a:t>
            </a:r>
            <a:r>
              <a:rPr lang="ko-KR" alt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블록체인</a:t>
            </a:r>
            <a:r>
              <a:rPr lang="ko-KR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&amp; AI </a:t>
            </a:r>
            <a:r>
              <a:rPr lang="ko-KR" alt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해커톤</a:t>
            </a:r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 </a:t>
            </a:r>
            <a:r>
              <a:rPr lang="en-US" altLang="ko-KR" sz="14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(</a:t>
            </a:r>
            <a:r>
              <a:rPr lang="ko-KR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제안서 양식</a:t>
            </a:r>
            <a:r>
              <a:rPr lang="en-US" altLang="ko-KR" sz="14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anose="020E0705020206020404" pitchFamily="34" charset="0"/>
              </a:rPr>
              <a:t>)</a:t>
            </a:r>
            <a:endParaRPr lang="ko-KR" altLang="en-US" sz="2000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339" y="5831862"/>
            <a:ext cx="7185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팀   명 </a:t>
            </a:r>
            <a:r>
              <a:rPr lang="en-US" altLang="ko-KR" b="1" dirty="0">
                <a:solidFill>
                  <a:schemeClr val="bg1"/>
                </a:solidFill>
              </a:rPr>
              <a:t>: </a:t>
            </a:r>
            <a:r>
              <a:rPr lang="ko-KR" altLang="en-US" b="1" dirty="0" err="1">
                <a:solidFill>
                  <a:schemeClr val="bg1"/>
                </a:solidFill>
              </a:rPr>
              <a:t>과거맛</a:t>
            </a:r>
            <a:r>
              <a:rPr lang="ko-KR" altLang="en-US" b="1" dirty="0">
                <a:solidFill>
                  <a:schemeClr val="bg1"/>
                </a:solidFill>
              </a:rPr>
              <a:t> 쿠키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2339" y="2661619"/>
            <a:ext cx="86129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</a:rPr>
              <a:t>프로젝트명 </a:t>
            </a:r>
            <a:r>
              <a:rPr lang="en-US" altLang="ko-KR" sz="4400" b="1" dirty="0">
                <a:solidFill>
                  <a:schemeClr val="bg1"/>
                </a:solidFill>
              </a:rPr>
              <a:t>:</a:t>
            </a:r>
            <a:r>
              <a:rPr lang="ko-KR" altLang="en-US" sz="4400" b="1" dirty="0">
                <a:solidFill>
                  <a:schemeClr val="bg1"/>
                </a:solidFill>
              </a:rPr>
              <a:t> </a:t>
            </a:r>
            <a:endParaRPr lang="en-US" altLang="ko-KR" sz="4400" b="1" dirty="0">
              <a:solidFill>
                <a:schemeClr val="bg1"/>
              </a:solidFill>
            </a:endParaRPr>
          </a:p>
          <a:p>
            <a:r>
              <a:rPr lang="ko-KR" altLang="en-US" sz="4400" b="1" dirty="0">
                <a:solidFill>
                  <a:schemeClr val="bg1"/>
                </a:solidFill>
              </a:rPr>
              <a:t>디지털 타임캡슐</a:t>
            </a:r>
            <a:r>
              <a:rPr lang="en-US" altLang="ko-KR" sz="4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339" y="6244921"/>
            <a:ext cx="7185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제출일 </a:t>
            </a:r>
            <a:r>
              <a:rPr lang="en-US" altLang="ko-KR" b="1" dirty="0">
                <a:solidFill>
                  <a:schemeClr val="bg1"/>
                </a:solidFill>
              </a:rPr>
              <a:t>: 2026. 05. 28 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6980810" y="1673514"/>
            <a:ext cx="4972050" cy="5022528"/>
          </a:xfrm>
          <a:prstGeom prst="roundRect">
            <a:avLst>
              <a:gd name="adj" fmla="val 9204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공모 제안서 양식 목차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171450" indent="-171450" algn="just">
              <a:buFont typeface="맑은 고딕" panose="020B0503020000020004" pitchFamily="50" charset="-127"/>
              <a:buChar char="※"/>
            </a:pPr>
            <a:endParaRPr lang="en-US" altLang="ko-KR" sz="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팀명과</a:t>
            </a:r>
            <a:r>
              <a:rPr lang="ko-KR" altLang="en-US" sz="11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제출일 작성必</a:t>
            </a:r>
            <a:endParaRPr lang="en-US" altLang="ko-KR" sz="11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요약서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u="sng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수정 불가</a:t>
            </a:r>
            <a:r>
              <a:rPr lang="en-US" altLang="ko-KR" sz="1100" i="1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i="1" dirty="0">
                <a:solidFill>
                  <a:schemeClr val="tx1"/>
                </a:solidFill>
                <a:latin typeface="맑은 고딕" panose="020B0503020000020004" pitchFamily="50" charset="-127"/>
              </a:rPr>
              <a:t>최대 </a:t>
            </a:r>
            <a:r>
              <a:rPr lang="en-US" altLang="ko-KR" sz="1100" i="1" dirty="0">
                <a:solidFill>
                  <a:schemeClr val="tx1"/>
                </a:solidFill>
                <a:latin typeface="맑은 고딕" panose="020B0503020000020004" pitchFamily="50" charset="-127"/>
              </a:rPr>
              <a:t>2p </a:t>
            </a:r>
            <a:r>
              <a:rPr lang="ko-KR" altLang="en-US" sz="1100" i="1" dirty="0">
                <a:solidFill>
                  <a:schemeClr val="tx1"/>
                </a:solidFill>
                <a:latin typeface="맑은 고딕" panose="020B0503020000020004" pitchFamily="50" charset="-127"/>
              </a:rPr>
              <a:t>분량</a:t>
            </a:r>
            <a:r>
              <a:rPr lang="en-US" altLang="ko-KR" sz="1100" i="1" dirty="0"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endParaRPr lang="en-US" altLang="ko-KR" sz="1100" b="1" i="1" u="sng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제안내용의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목적 및 필요성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제안내용의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상세 설명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제안내용의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차별성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기대효과</a:t>
            </a:r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 관련 자료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altLang="ko-KR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캡처 이미지</a:t>
            </a:r>
            <a:r>
              <a:rPr lang="en-US" altLang="ko-KR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URL, QR </a:t>
            </a:r>
            <a:r>
              <a:rPr lang="ko-KR" altLang="en-US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등</a:t>
            </a:r>
            <a:r>
              <a:rPr lang="en-US" altLang="ko-KR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있을 경우 첨부</a:t>
            </a:r>
            <a:endParaRPr lang="en-US" altLang="ko-KR" sz="1100" i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제안내용에 대한 기타 </a:t>
            </a:r>
            <a:r>
              <a:rPr lang="ko-KR" altLang="en-US" sz="1100" i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추가내용이</a:t>
            </a:r>
            <a:r>
              <a:rPr lang="ko-KR" altLang="en-US" sz="1100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있을 경우 작성</a:t>
            </a:r>
            <a:endParaRPr lang="en-US" altLang="ko-KR" sz="1100" i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/>
            <a:endParaRPr lang="en-US" altLang="ko-KR" sz="11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>
              <a:buFont typeface="맑은 고딕" panose="020B0503020000020004" pitchFamily="50" charset="-127"/>
              <a:buChar char="※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공모 제안서 작성 유의사항</a:t>
            </a:r>
            <a:endParaRPr lang="en-US" altLang="ko-KR" sz="1100" b="1" dirty="0">
              <a:solidFill>
                <a:srgbClr val="C00000"/>
              </a:solidFill>
              <a:latin typeface="맑은 고딕" panose="020B0503020000020004" pitchFamily="50" charset="-127"/>
            </a:endParaRPr>
          </a:p>
          <a:p>
            <a:pPr marL="171450" indent="-171450" algn="just">
              <a:buFont typeface="맑은 고딕" panose="020B0503020000020004" pitchFamily="50" charset="-127"/>
              <a:buChar char="※"/>
            </a:pPr>
            <a:endParaRPr lang="en-US" altLang="ko-KR" sz="5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각 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의 주제에 대하여 구체적으로 작성합니다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텍스트 나열 지양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제시된 주제에 대해 누락 없이 작성합니다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ko-KR" altLang="en-US" sz="1100" b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1100" b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10 </a:t>
            </a:r>
            <a:r>
              <a:rPr lang="ko-KR" altLang="en-US" sz="1100" b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페이지 이내</a:t>
            </a:r>
            <a:r>
              <a:rPr lang="en-US" altLang="ko-KR" sz="1100" i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i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요약서 및 표지 제외</a:t>
            </a:r>
            <a:r>
              <a:rPr lang="en-US" altLang="ko-KR" sz="1100" i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 u="sng" dirty="0">
                <a:solidFill>
                  <a:srgbClr val="C00000"/>
                </a:solidFill>
                <a:latin typeface="맑은 고딕" panose="020B0503020000020004" pitchFamily="50" charset="-127"/>
              </a:rPr>
              <a:t>로 작성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합니다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8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분 이내 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Presentation </a:t>
            </a:r>
            <a:r>
              <a: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가능하도록 작성합니다</a:t>
            </a:r>
            <a:r>
              <a: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(8</a:t>
            </a:r>
            <a:r>
              <a:rPr lang="ko-KR" altLang="en-US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분 발표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/ Q&amp;A</a:t>
            </a:r>
            <a:r>
              <a:rPr lang="ko-KR" altLang="en-US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분</a:t>
            </a:r>
            <a:r>
              <a:rPr lang="en-US" altLang="ko-KR" sz="1100" i="1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en-US" altLang="ko-KR" sz="1100" i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buFont typeface="+mj-lt"/>
              <a:buAutoNum type="arabicPeriod"/>
            </a:pP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74313"/>
              </p:ext>
            </p:extLst>
          </p:nvPr>
        </p:nvGraphicFramePr>
        <p:xfrm>
          <a:off x="7421627" y="4762577"/>
          <a:ext cx="409041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2331">
                  <a:extLst>
                    <a:ext uri="{9D8B030D-6E8A-4147-A177-3AD203B41FA5}">
                      <a16:colId xmlns:a16="http://schemas.microsoft.com/office/drawing/2014/main" val="1965651449"/>
                    </a:ext>
                  </a:extLst>
                </a:gridCol>
                <a:gridCol w="918084">
                  <a:extLst>
                    <a:ext uri="{9D8B030D-6E8A-4147-A177-3AD203B41FA5}">
                      <a16:colId xmlns:a16="http://schemas.microsoft.com/office/drawing/2014/main" val="32253947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예선 심사기준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758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심 사 항 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배  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7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창   의   성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35</a:t>
                      </a:r>
                      <a:r>
                        <a:rPr lang="ko-KR" altLang="en-US" sz="900" dirty="0"/>
                        <a:t>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582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실현 가능성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35</a:t>
                      </a:r>
                      <a:r>
                        <a:rPr lang="ko-KR" altLang="en-US" sz="900" dirty="0"/>
                        <a:t>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467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사   업   성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30</a:t>
                      </a:r>
                      <a:r>
                        <a:rPr lang="ko-KR" altLang="en-US" sz="900" dirty="0"/>
                        <a:t>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205940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338949" y="104868"/>
            <a:ext cx="2311004" cy="707886"/>
            <a:chOff x="338949" y="104868"/>
            <a:chExt cx="2311004" cy="707886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339" y="362768"/>
              <a:ext cx="2137614" cy="26664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38949" y="104868"/>
              <a:ext cx="5178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000" dirty="0">
                  <a:solidFill>
                    <a:srgbClr val="FF0000"/>
                  </a:solidFill>
                </a:rPr>
                <a:t>*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51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맑은 고딕" panose="020B0503020000020004" pitchFamily="50" charset="-127"/>
              <a:buChar char="◈"/>
            </a:pPr>
            <a:r>
              <a:rPr lang="ko-KR" altLang="en-US" sz="1801" dirty="0"/>
              <a:t>제안 요약서</a:t>
            </a:r>
            <a:endParaRPr lang="x-none" altLang="en-US" sz="1801" dirty="0"/>
          </a:p>
        </p:txBody>
      </p:sp>
      <p:sp>
        <p:nvSpPr>
          <p:cNvPr id="4" name="TextBox 3"/>
          <p:cNvSpPr txBox="1"/>
          <p:nvPr/>
        </p:nvSpPr>
        <p:spPr>
          <a:xfrm>
            <a:off x="342900" y="561975"/>
            <a:ext cx="11306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※"/>
            </a:pPr>
            <a:r>
              <a:rPr lang="ko-KR" altLang="en-US" sz="1100" b="1" dirty="0">
                <a:solidFill>
                  <a:srgbClr val="C00000"/>
                </a:solidFill>
              </a:rPr>
              <a:t>표 수정 불가</a:t>
            </a:r>
            <a:r>
              <a:rPr lang="en-US" altLang="ko-KR" sz="1100" b="1" dirty="0">
                <a:solidFill>
                  <a:srgbClr val="C00000"/>
                </a:solidFill>
              </a:rPr>
              <a:t> </a:t>
            </a:r>
            <a:r>
              <a:rPr lang="en-US" altLang="ko-KR" sz="11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b="1" i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표식 </a:t>
            </a:r>
            <a:r>
              <a:rPr lang="ko-KR" altLang="en-US" sz="1100" b="1" i="1" dirty="0">
                <a:solidFill>
                  <a:srgbClr val="0000FF"/>
                </a:solidFill>
              </a:rPr>
              <a:t>설명</a:t>
            </a:r>
            <a:r>
              <a:rPr lang="ko-KR" altLang="en-US" sz="1100" b="1" dirty="0">
                <a:solidFill>
                  <a:srgbClr val="C00000"/>
                </a:solidFill>
              </a:rPr>
              <a:t>은 작성 후 삭제 요망</a:t>
            </a:r>
            <a:r>
              <a:rPr lang="en-US" altLang="ko-KR" sz="1100" b="1" dirty="0">
                <a:solidFill>
                  <a:srgbClr val="C00000"/>
                </a:solidFill>
              </a:rPr>
              <a:t> (</a:t>
            </a:r>
            <a:r>
              <a:rPr lang="ko-KR" altLang="en-US" sz="1100" b="1" dirty="0">
                <a:solidFill>
                  <a:srgbClr val="C00000"/>
                </a:solidFill>
              </a:rPr>
              <a:t>제안 </a:t>
            </a:r>
            <a:r>
              <a:rPr lang="ko-KR" altLang="en-US" sz="1100" b="1" dirty="0" err="1">
                <a:solidFill>
                  <a:srgbClr val="C00000"/>
                </a:solidFill>
              </a:rPr>
              <a:t>요약서는</a:t>
            </a:r>
            <a:r>
              <a:rPr lang="ko-KR" altLang="en-US" sz="1100" b="1" dirty="0">
                <a:solidFill>
                  <a:srgbClr val="C00000"/>
                </a:solidFill>
              </a:rPr>
              <a:t> 최대 </a:t>
            </a:r>
            <a:r>
              <a:rPr lang="en-US" altLang="ko-KR" sz="1100" b="1" dirty="0">
                <a:solidFill>
                  <a:srgbClr val="C00000"/>
                </a:solidFill>
              </a:rPr>
              <a:t>2p </a:t>
            </a:r>
            <a:r>
              <a:rPr lang="ko-KR" altLang="en-US" sz="1100" b="1" dirty="0">
                <a:solidFill>
                  <a:srgbClr val="C00000"/>
                </a:solidFill>
              </a:rPr>
              <a:t>이내 작성할 것</a:t>
            </a:r>
            <a:r>
              <a:rPr lang="en-US" altLang="ko-KR" sz="1100" b="1" dirty="0">
                <a:solidFill>
                  <a:srgbClr val="C00000"/>
                </a:solidFill>
              </a:rPr>
              <a:t>)</a:t>
            </a:r>
            <a:r>
              <a:rPr lang="ko-KR" altLang="en-US" sz="1100" b="1" dirty="0">
                <a:solidFill>
                  <a:srgbClr val="C00000"/>
                </a:solidFill>
              </a:rPr>
              <a:t> 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727112"/>
              </p:ext>
            </p:extLst>
          </p:nvPr>
        </p:nvGraphicFramePr>
        <p:xfrm>
          <a:off x="293857" y="852287"/>
          <a:ext cx="11572794" cy="5634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75">
                  <a:extLst>
                    <a:ext uri="{9D8B030D-6E8A-4147-A177-3AD203B41FA5}">
                      <a16:colId xmlns:a16="http://schemas.microsoft.com/office/drawing/2014/main" val="3719874892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317660577"/>
                    </a:ext>
                  </a:extLst>
                </a:gridCol>
                <a:gridCol w="1228726">
                  <a:extLst>
                    <a:ext uri="{9D8B030D-6E8A-4147-A177-3AD203B41FA5}">
                      <a16:colId xmlns:a16="http://schemas.microsoft.com/office/drawing/2014/main" val="4127399229"/>
                    </a:ext>
                  </a:extLst>
                </a:gridCol>
                <a:gridCol w="1228726">
                  <a:extLst>
                    <a:ext uri="{9D8B030D-6E8A-4147-A177-3AD203B41FA5}">
                      <a16:colId xmlns:a16="http://schemas.microsoft.com/office/drawing/2014/main" val="1986724686"/>
                    </a:ext>
                  </a:extLst>
                </a:gridCol>
                <a:gridCol w="413779">
                  <a:extLst>
                    <a:ext uri="{9D8B030D-6E8A-4147-A177-3AD203B41FA5}">
                      <a16:colId xmlns:a16="http://schemas.microsoft.com/office/drawing/2014/main" val="3096174205"/>
                    </a:ext>
                  </a:extLst>
                </a:gridCol>
                <a:gridCol w="710721">
                  <a:extLst>
                    <a:ext uri="{9D8B030D-6E8A-4147-A177-3AD203B41FA5}">
                      <a16:colId xmlns:a16="http://schemas.microsoft.com/office/drawing/2014/main" val="606850419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551857274"/>
                    </a:ext>
                  </a:extLst>
                </a:gridCol>
                <a:gridCol w="608055">
                  <a:extLst>
                    <a:ext uri="{9D8B030D-6E8A-4147-A177-3AD203B41FA5}">
                      <a16:colId xmlns:a16="http://schemas.microsoft.com/office/drawing/2014/main" val="3397203766"/>
                    </a:ext>
                  </a:extLst>
                </a:gridCol>
                <a:gridCol w="620670">
                  <a:extLst>
                    <a:ext uri="{9D8B030D-6E8A-4147-A177-3AD203B41FA5}">
                      <a16:colId xmlns:a16="http://schemas.microsoft.com/office/drawing/2014/main" val="2909318470"/>
                    </a:ext>
                  </a:extLst>
                </a:gridCol>
                <a:gridCol w="814946">
                  <a:extLst>
                    <a:ext uri="{9D8B030D-6E8A-4147-A177-3AD203B41FA5}">
                      <a16:colId xmlns:a16="http://schemas.microsoft.com/office/drawing/2014/main" val="109413149"/>
                    </a:ext>
                  </a:extLst>
                </a:gridCol>
                <a:gridCol w="2871231">
                  <a:extLst>
                    <a:ext uri="{9D8B030D-6E8A-4147-A177-3AD203B41FA5}">
                      <a16:colId xmlns:a16="http://schemas.microsoft.com/office/drawing/2014/main" val="3496107915"/>
                    </a:ext>
                  </a:extLst>
                </a:gridCol>
              </a:tblGrid>
              <a:tr h="556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참 가 구 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lvl="0" algn="just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Track</a:t>
                      </a:r>
                      <a:r>
                        <a:rPr lang="en-US" altLang="ko-KR" sz="14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1 :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비즈니스 아이디어 공모</a:t>
                      </a:r>
                      <a:endParaRPr lang="en-US" altLang="ko-KR" sz="14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vl="0" algn="just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Track</a:t>
                      </a:r>
                      <a:r>
                        <a:rPr lang="en-US" altLang="ko-KR" sz="14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 :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제안 아이디어를 고도화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MVP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 개발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시연</a:t>
                      </a:r>
                      <a:endParaRPr lang="en-US" altLang="ko-KR" sz="14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just" latinLnBrk="1"/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863402"/>
                  </a:ext>
                </a:extLst>
              </a:tr>
              <a:tr h="3706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참 가 유 형</a:t>
                      </a:r>
                      <a:endParaRPr lang="en-US" altLang="ko-KR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5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800" b="0" i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해당사항 </a:t>
                      </a:r>
                      <a:r>
                        <a:rPr lang="ko-KR" altLang="en-US" sz="800" b="0" i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체크박스 내 ▣ 표기</a:t>
                      </a:r>
                      <a:endParaRPr lang="en-US" altLang="ko-KR" sz="800" b="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◈ 개인</a:t>
                      </a:r>
                      <a:endParaRPr lang="en-US" altLang="ko-KR" sz="14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학생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일반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327175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◈ 팀</a:t>
                      </a:r>
                      <a:endParaRPr lang="en-US" altLang="ko-KR" sz="14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학생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스타트업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</a:t>
                      </a:r>
                      <a:endParaRPr lang="en-US" altLang="ko-KR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026183"/>
                  </a:ext>
                </a:extLst>
              </a:tr>
              <a:tr h="3706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팀        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과거맛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쿠키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034155"/>
                  </a:ext>
                </a:extLst>
              </a:tr>
              <a:tr h="3706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프로젝트명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000000"/>
                          </a:solidFill>
                          <a:latin typeface="NanumSquare"/>
                        </a:rPr>
                        <a:t>PastCookie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NanumSquare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NanumSquare"/>
                        </a:rPr>
                        <a:t>미래형 타임캡슐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NanumSquare"/>
                        </a:rPr>
                        <a:t>SNS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3096"/>
                  </a:ext>
                </a:extLst>
              </a:tr>
              <a:tr h="630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아 이 디 어</a:t>
                      </a:r>
                      <a:endParaRPr lang="en-US" altLang="ko-KR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         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NanumSquare"/>
                        </a:rPr>
                        <a:t>PastCookie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는 오늘의 감정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사진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메시지를 시간별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 날짜별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(24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시간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, 7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일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,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2026-10-12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 등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)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의 미래 </a:t>
                      </a:r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latin typeface="NanumSquare"/>
                        </a:rPr>
                        <a:t>피드로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 남기는 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SNS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형 타임캡슐 서비스이다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일반 캡슐은 가볍게 만들고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장기 보관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특정 수신자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부재 이후 전달처럼 </a:t>
                      </a:r>
                      <a:endParaRPr lang="en-US" altLang="ko-KR" sz="800" dirty="0">
                        <a:solidFill>
                          <a:srgbClr val="000000"/>
                        </a:solidFill>
                        <a:latin typeface="NanumSquare"/>
                      </a:endParaRPr>
                    </a:p>
                    <a:p>
                      <a:endParaRPr lang="en-US" altLang="ko-KR" sz="800" dirty="0">
                        <a:solidFill>
                          <a:srgbClr val="000000"/>
                        </a:solidFill>
                        <a:latin typeface="NanumSquare"/>
                      </a:endParaRPr>
                    </a:p>
                    <a:p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중요한 캡슐은 모바일 신분증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latin typeface="NanumSquare"/>
                        </a:rPr>
                        <a:t>/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  <a:latin typeface="NanumSquare"/>
                        </a:rPr>
                        <a:t>OpenDID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latin typeface="NanumSquare"/>
                        </a:rPr>
                        <a:t>검증과 블록체인 해시 봉인으로 신뢰를 더하고자 한다</a:t>
                      </a:r>
                      <a:endParaRPr lang="en-US" altLang="ko-KR" sz="800" dirty="0">
                        <a:solidFill>
                          <a:srgbClr val="000000"/>
                        </a:solidFill>
                        <a:latin typeface="NanumSquare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93661"/>
                  </a:ext>
                </a:extLst>
              </a:tr>
              <a:tr h="37067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신   청   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성     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남정훈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134467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990508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소      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개인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310192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휴대전화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010-7146-3851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E - mail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surtrcode@gmail.com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953533"/>
                  </a:ext>
                </a:extLst>
              </a:tr>
              <a:tr h="370674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구   성   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     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     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휴대전화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 - mail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68372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018449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770524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541129"/>
                  </a:ext>
                </a:extLst>
              </a:tr>
              <a:tr h="37067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98759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0B9B1E8-32D3-B40B-2B08-299998DB4478}"/>
              </a:ext>
            </a:extLst>
          </p:cNvPr>
          <p:cNvSpPr/>
          <p:nvPr/>
        </p:nvSpPr>
        <p:spPr>
          <a:xfrm>
            <a:off x="6978037" y="1107141"/>
            <a:ext cx="68221" cy="733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806D6-A772-C736-8912-CB85885AC9CD}"/>
              </a:ext>
            </a:extLst>
          </p:cNvPr>
          <p:cNvSpPr/>
          <p:nvPr/>
        </p:nvSpPr>
        <p:spPr>
          <a:xfrm>
            <a:off x="3396938" y="1570364"/>
            <a:ext cx="68221" cy="733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1769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ko-KR" altLang="en-US" sz="1801" dirty="0" err="1"/>
              <a:t>제안내용의</a:t>
            </a:r>
            <a:r>
              <a:rPr lang="ko-KR" altLang="en-US" sz="1801" dirty="0"/>
              <a:t> 목적 및 필요성</a:t>
            </a:r>
            <a:endParaRPr lang="x-none" altLang="en-US" sz="180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2FD66-A436-DE5B-77F0-21F5D2C41357}"/>
              </a:ext>
            </a:extLst>
          </p:cNvPr>
          <p:cNvSpPr txBox="1"/>
          <p:nvPr/>
        </p:nvSpPr>
        <p:spPr>
          <a:xfrm>
            <a:off x="502920" y="658368"/>
            <a:ext cx="11155680" cy="29636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sz="1400" b="1" dirty="0" err="1">
                <a:latin typeface="NanumSquare"/>
              </a:rPr>
              <a:t>기존</a:t>
            </a:r>
            <a:r>
              <a:rPr sz="1400" b="1" dirty="0">
                <a:latin typeface="NanumSquare"/>
              </a:rPr>
              <a:t> SNS</a:t>
            </a:r>
            <a:r>
              <a:rPr lang="ko-KR" altLang="en-US" sz="1400" b="1" dirty="0">
                <a:latin typeface="NanumSquare"/>
              </a:rPr>
              <a:t>와 다른 새로운 서비스를 만들고자 하는 목표</a:t>
            </a:r>
            <a:r>
              <a:rPr lang="en-US" altLang="ko-KR" sz="1400" b="1" dirty="0">
                <a:latin typeface="NanumSquare"/>
              </a:rPr>
              <a:t>,</a:t>
            </a:r>
            <a:r>
              <a:rPr sz="1400" b="1" dirty="0">
                <a:latin typeface="NanumSquare"/>
              </a:rPr>
              <a:t> “</a:t>
            </a:r>
            <a:r>
              <a:rPr sz="1400" b="1" dirty="0" err="1">
                <a:latin typeface="NanumSquare"/>
              </a:rPr>
              <a:t>지금</a:t>
            </a:r>
            <a:r>
              <a:rPr sz="1400" b="1" dirty="0">
                <a:latin typeface="NanumSquare"/>
              </a:rPr>
              <a:t> </a:t>
            </a:r>
            <a:r>
              <a:rPr lang="ko-KR" altLang="en-US" sz="1400" b="1" dirty="0">
                <a:latin typeface="NanumSquare"/>
              </a:rPr>
              <a:t>내 시점을 </a:t>
            </a:r>
            <a:r>
              <a:rPr sz="1400" b="1" dirty="0" err="1">
                <a:latin typeface="NanumSquare"/>
              </a:rPr>
              <a:t>공유</a:t>
            </a:r>
            <a:r>
              <a:rPr sz="1400" b="1" dirty="0">
                <a:latin typeface="NanumSquare"/>
              </a:rPr>
              <a:t>”</a:t>
            </a:r>
            <a:r>
              <a:rPr lang="ko-KR" altLang="en-US" sz="1400" b="1" dirty="0">
                <a:latin typeface="NanumSquare"/>
              </a:rPr>
              <a:t> </a:t>
            </a:r>
            <a:r>
              <a:rPr lang="en-US" altLang="ko-KR" sz="1400" b="1" dirty="0">
                <a:latin typeface="NanumSquare"/>
              </a:rPr>
              <a:t>-&gt;</a:t>
            </a:r>
            <a:r>
              <a:rPr sz="1400" b="1" dirty="0">
                <a:latin typeface="NanumSquare"/>
              </a:rPr>
              <a:t> “</a:t>
            </a:r>
            <a:r>
              <a:rPr sz="1400" b="1" dirty="0" err="1">
                <a:latin typeface="NanumSquare"/>
              </a:rPr>
              <a:t>미래에</a:t>
            </a:r>
            <a:r>
              <a:rPr sz="1400" b="1" dirty="0">
                <a:latin typeface="NanumSquare"/>
              </a:rPr>
              <a:t> </a:t>
            </a:r>
            <a:r>
              <a:rPr sz="1400" b="1" dirty="0" err="1">
                <a:latin typeface="NanumSquare"/>
              </a:rPr>
              <a:t>도착하는</a:t>
            </a:r>
            <a:r>
              <a:rPr sz="1400" b="1" dirty="0">
                <a:latin typeface="NanumSquare"/>
              </a:rPr>
              <a:t> </a:t>
            </a:r>
            <a:r>
              <a:rPr sz="1400" b="1" dirty="0" err="1">
                <a:latin typeface="NanumSquare"/>
              </a:rPr>
              <a:t>피드”로</a:t>
            </a:r>
            <a:r>
              <a:rPr sz="1400" b="1" dirty="0">
                <a:latin typeface="NanumSquare"/>
              </a:rPr>
              <a:t> </a:t>
            </a:r>
            <a:r>
              <a:rPr sz="1400" b="1" dirty="0" err="1">
                <a:latin typeface="NanumSquare"/>
              </a:rPr>
              <a:t>확장하는</a:t>
            </a:r>
            <a:r>
              <a:rPr lang="ko-KR" altLang="en-US" sz="1400" b="1" dirty="0">
                <a:latin typeface="NanumSquare"/>
              </a:rPr>
              <a:t> 구조</a:t>
            </a:r>
            <a:endParaRPr sz="1400" b="1" dirty="0">
              <a:latin typeface="NanumSquare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072E2D0-6938-E413-4EE7-C449A4E936DA}"/>
              </a:ext>
            </a:extLst>
          </p:cNvPr>
          <p:cNvSpPr/>
          <p:nvPr/>
        </p:nvSpPr>
        <p:spPr>
          <a:xfrm>
            <a:off x="594360" y="1078992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1F5DB8"/>
                </a:solidFill>
                <a:latin typeface="NanumSquare"/>
              </a:rPr>
              <a:t>1.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새로운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SNS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경험을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만든다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8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180" b="0" dirty="0" err="1">
                <a:solidFill>
                  <a:schemeClr val="tx1"/>
                </a:solidFill>
                <a:latin typeface="NanumSquare"/>
              </a:rPr>
              <a:t>PastCookie의</a:t>
            </a:r>
            <a:r>
              <a:rPr sz="11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80" b="0" dirty="0" err="1">
                <a:solidFill>
                  <a:schemeClr val="tx1"/>
                </a:solidFill>
                <a:latin typeface="NanumSquare"/>
              </a:rPr>
              <a:t>출발점은</a:t>
            </a:r>
            <a:r>
              <a:rPr sz="1180" b="0" dirty="0">
                <a:solidFill>
                  <a:schemeClr val="tx1"/>
                </a:solidFill>
                <a:latin typeface="NanumSquare"/>
              </a:rPr>
              <a:t> “</a:t>
            </a:r>
            <a:r>
              <a:rPr sz="1180" b="0" dirty="0" err="1">
                <a:solidFill>
                  <a:schemeClr val="tx1"/>
                </a:solidFill>
                <a:latin typeface="NanumSquare"/>
              </a:rPr>
              <a:t>디지털</a:t>
            </a:r>
            <a:r>
              <a:rPr sz="11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80" b="0" dirty="0" err="1">
                <a:solidFill>
                  <a:schemeClr val="tx1"/>
                </a:solidFill>
                <a:latin typeface="NanumSquare"/>
              </a:rPr>
              <a:t>유산</a:t>
            </a:r>
            <a:r>
              <a:rPr sz="11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80" b="0" dirty="0" err="1">
                <a:solidFill>
                  <a:schemeClr val="tx1"/>
                </a:solidFill>
                <a:latin typeface="NanumSquare"/>
              </a:rPr>
              <a:t>관리</a:t>
            </a:r>
            <a:r>
              <a:rPr sz="1180" b="0" dirty="0">
                <a:solidFill>
                  <a:schemeClr val="tx1"/>
                </a:solidFill>
                <a:latin typeface="NanumSquare"/>
              </a:rPr>
              <a:t>”</a:t>
            </a:r>
            <a:r>
              <a:rPr lang="ko-KR" altLang="en-US" sz="1180" dirty="0">
                <a:solidFill>
                  <a:schemeClr val="tx1"/>
                </a:solidFill>
                <a:latin typeface="NanumSquare"/>
              </a:rPr>
              <a:t>라는 아이디어에서 시작했습니다</a:t>
            </a:r>
            <a:r>
              <a:rPr lang="en-US" altLang="ko-KR" sz="1180" dirty="0">
                <a:solidFill>
                  <a:schemeClr val="tx1"/>
                </a:solidFill>
                <a:latin typeface="NanumSquare"/>
              </a:rPr>
              <a:t>.</a:t>
            </a:r>
            <a:r>
              <a:rPr lang="ko-KR" altLang="en-US" sz="1180" dirty="0">
                <a:solidFill>
                  <a:schemeClr val="tx1"/>
                </a:solidFill>
                <a:latin typeface="NanumSquare"/>
              </a:rPr>
              <a:t> 디지털이 발달된 시대에 태어난 세대들은 대부분의 데이터를 온라인 상에 담고 있습니다</a:t>
            </a:r>
            <a:r>
              <a:rPr lang="en-US" altLang="ko-KR" sz="1180" dirty="0">
                <a:solidFill>
                  <a:schemeClr val="tx1"/>
                </a:solidFill>
                <a:latin typeface="NanumSquare"/>
              </a:rPr>
              <a:t>.</a:t>
            </a:r>
            <a:r>
              <a:rPr lang="ko-KR" altLang="en-US" sz="1180" dirty="0">
                <a:solidFill>
                  <a:schemeClr val="tx1"/>
                </a:solidFill>
                <a:latin typeface="NanumSquare"/>
              </a:rPr>
              <a:t> </a:t>
            </a:r>
            <a:endParaRPr lang="en-US" altLang="ko-KR" sz="1180" dirty="0">
              <a:solidFill>
                <a:schemeClr val="tx1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altLang="ko-KR" sz="1180" dirty="0">
              <a:solidFill>
                <a:srgbClr val="3C4857"/>
              </a:solidFill>
              <a:latin typeface="NanumSquare"/>
            </a:endParaRPr>
          </a:p>
          <a:p>
            <a:r>
              <a:rPr lang="en-US" sz="1180" dirty="0">
                <a:solidFill>
                  <a:srgbClr val="3C4857"/>
                </a:solidFill>
                <a:latin typeface="NanumSquare"/>
              </a:rPr>
              <a:t>• </a:t>
            </a:r>
            <a:r>
              <a:rPr lang="en-KR" sz="1200" dirty="0">
                <a:solidFill>
                  <a:schemeClr val="tx1"/>
                </a:solidFill>
              </a:rPr>
              <a:t>하지만 현재의 SNS는 “지금 이 순간”을 빠르게 소비하는 구조에 집중되어 있습니다. 게시물은 업로드 직후 반응을 얻고, 시간이 지나면 피드 속에서 잊혀집니다. 우리는 여기서 한 가지 질문을 던졌습니다.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“지금 남긴 기록이 미래의 나와 친구에게 다시 도착한다면 어떨까?”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altLang="ko-KR" sz="1180" b="0" dirty="0">
              <a:solidFill>
                <a:srgbClr val="3C4857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altLang="ko-KR" sz="1180" b="0" dirty="0">
              <a:solidFill>
                <a:srgbClr val="3C4857"/>
              </a:solidFill>
              <a:latin typeface="NanumSquare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9B3390-56C9-DC85-F0EA-2E05AABA1CB5}"/>
              </a:ext>
            </a:extLst>
          </p:cNvPr>
          <p:cNvSpPr/>
          <p:nvPr/>
        </p:nvSpPr>
        <p:spPr>
          <a:xfrm>
            <a:off x="6172200" y="1078992"/>
            <a:ext cx="54406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1F5DB8"/>
                </a:solidFill>
                <a:latin typeface="NanumSquare"/>
              </a:rPr>
              <a:t>2.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기존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SNS가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놓치는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지점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KR" sz="1200" dirty="0">
                <a:solidFill>
                  <a:schemeClr val="tx1"/>
                </a:solidFill>
              </a:rPr>
              <a:t>• 현재의 SNS는 “지금 이 순간”을 중심으로 빠르게 소비되는 구조입니다. 게시물은 업로드 직후 반응을 얻고, 시간이 지나면 피드 속에서 묻히게 됩니다. 과거의 게시물을 다시 찾더라도, 당시의 감정과 맥락을 다시 경험하기는 어렵습니다.</a:t>
            </a:r>
            <a:endParaRPr sz="1180" b="0" dirty="0">
              <a:solidFill>
                <a:schemeClr val="tx1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사람들은 이미 많은 기록을 온라인에 남기고 있지만, “특정 미래 시점에 다시 도착하는 경험”은 아직 SNS의 기본 구조 안에 존재하지 않습니다.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PastCookie는 오늘의 기록이 미래의 나와 친구에게 다시 도착하는 </a:t>
            </a:r>
          </a:p>
          <a:p>
            <a:r>
              <a:rPr lang="en-KR" sz="1200" dirty="0">
                <a:solidFill>
                  <a:schemeClr val="tx1"/>
                </a:solidFill>
              </a:rPr>
              <a:t>Future Feed 경험을 통해, 저장이 아닌 “기다림과 개봉” 중심의 새로운 SNS 경험을 제안합니다.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EABDCB-73C6-ACF8-9CFB-AA1D9BCF3B2D}"/>
              </a:ext>
            </a:extLst>
          </p:cNvPr>
          <p:cNvSpPr/>
          <p:nvPr/>
        </p:nvSpPr>
        <p:spPr>
          <a:xfrm>
            <a:off x="594360" y="3502151"/>
            <a:ext cx="5440680" cy="24489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B77800"/>
                </a:solidFill>
                <a:latin typeface="NanumSquare"/>
              </a:rPr>
              <a:t>3.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문제</a:t>
            </a:r>
            <a:r>
              <a:rPr lang="ko-KR" altLang="en-US"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: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죽음과</a:t>
            </a:r>
            <a:r>
              <a:rPr lang="ko-KR" altLang="en-US" sz="1500" b="1" dirty="0">
                <a:solidFill>
                  <a:srgbClr val="B77800"/>
                </a:solidFill>
                <a:latin typeface="NanumSquare"/>
              </a:rPr>
              <a:t> 디지털 처리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lang="ko-KR" altLang="en-US" sz="1500" b="1" dirty="0">
                <a:solidFill>
                  <a:srgbClr val="B77800"/>
                </a:solidFill>
                <a:latin typeface="NanumSquare"/>
              </a:rPr>
              <a:t>부재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• </a:t>
            </a:r>
            <a:r>
              <a:rPr lang="en-US" sz="1200" dirty="0" err="1">
                <a:solidFill>
                  <a:schemeClr val="tx1"/>
                </a:solidFill>
              </a:rPr>
              <a:t>PastCookie</a:t>
            </a:r>
            <a:r>
              <a:rPr lang="ko-KR" altLang="en-US" sz="1200" dirty="0">
                <a:solidFill>
                  <a:schemeClr val="tx1"/>
                </a:solidFill>
              </a:rPr>
              <a:t>는 죽음을 무겁게 소비하는 서비스가 아니라</a:t>
            </a:r>
            <a:r>
              <a:rPr lang="en-US" altLang="ko-KR" sz="1200" dirty="0">
                <a:solidFill>
                  <a:schemeClr val="tx1"/>
                </a:solidFill>
              </a:rPr>
              <a:t>, “</a:t>
            </a:r>
            <a:r>
              <a:rPr lang="ko-KR" altLang="en-US" sz="1200" dirty="0">
                <a:solidFill>
                  <a:schemeClr val="tx1"/>
                </a:solidFill>
              </a:rPr>
              <a:t>부재 이후에도 사람과 사람이 연결될 수 </a:t>
            </a:r>
            <a:r>
              <a:rPr lang="ko-KR" altLang="en-US" sz="1200" dirty="0" err="1">
                <a:solidFill>
                  <a:schemeClr val="tx1"/>
                </a:solidFill>
              </a:rPr>
              <a:t>있는가”라는</a:t>
            </a:r>
            <a:r>
              <a:rPr lang="ko-KR" altLang="en-US" sz="1200" dirty="0">
                <a:solidFill>
                  <a:schemeClr val="tx1"/>
                </a:solidFill>
              </a:rPr>
              <a:t> 질문에서 출발하였습니다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사용자는 미래의 특정 이벤트를 위해 영상을 미리 남길 수 있습니다. 친구의 결혼식, 부모님의 생일, 자녀의 성인이 되는 날처럼 중요한 순간에 PastCookie가 기록을 다시 전달해주는 구조입니다.</a:t>
            </a:r>
            <a:br>
              <a:rPr lang="en-KR" sz="1200" dirty="0">
                <a:solidFill>
                  <a:schemeClr val="tx1"/>
                </a:solidFill>
              </a:rPr>
            </a:br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중요한 캡슐에는 작성자·수신자·수탁자를 검증하는 Verified Capsule 기능을 적용하여, 사칭이나 무단 공개 가능성을 줄이고 안전하게 미래로 전달될 수 있도록 설계하였습니다.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5B9B49-07FA-F52C-39E8-343EDD3C400D}"/>
              </a:ext>
            </a:extLst>
          </p:cNvPr>
          <p:cNvSpPr/>
          <p:nvPr/>
        </p:nvSpPr>
        <p:spPr>
          <a:xfrm>
            <a:off x="6172200" y="3502152"/>
            <a:ext cx="5440680" cy="24489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B77800"/>
                </a:solidFill>
                <a:latin typeface="NanumSquare"/>
              </a:rPr>
              <a:t>4.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모바일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신분증을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lang="ko-KR" altLang="en-US" sz="1500" b="1" dirty="0">
                <a:solidFill>
                  <a:srgbClr val="B77800"/>
                </a:solidFill>
                <a:latin typeface="NanumSquare"/>
              </a:rPr>
              <a:t>사용하는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이유</a:t>
            </a:r>
            <a:endParaRPr sz="1500" b="1" dirty="0">
              <a:solidFill>
                <a:srgbClr val="B77800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PastCookie의 </a:t>
            </a:r>
            <a:r>
              <a:rPr lang="ko-KR" altLang="en-US" sz="1200" dirty="0">
                <a:solidFill>
                  <a:schemeClr val="tx1"/>
                </a:solidFill>
              </a:rPr>
              <a:t>목표는</a:t>
            </a:r>
            <a:r>
              <a:rPr lang="en-KR" sz="1200" dirty="0">
                <a:solidFill>
                  <a:schemeClr val="tx1"/>
                </a:solidFill>
              </a:rPr>
              <a:t> 글로벌 Future Feed SNS이며, 모바일 신분증은 모든 사용자에게 강제되는 기능이 아니라 중요한 캡슐에만 적용되는 선택형 Verified Capsule 레이어입니다.</a:t>
            </a:r>
          </a:p>
          <a:p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한국 MVP에서는 모바일 신분증과 OpenDID 기반 검증 구조를 활용하여 작성자·수신자 권한을 검증하고, 중요한 기록이 안전하게 전달될 수 있는 구조를 실증하고자 합니다.</a:t>
            </a:r>
          </a:p>
          <a:p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또한 블록체인에는 원문 데이터가 아닌 캡슐의 해시값과 공개 정책만 기록하여, 위변조 여부와 공개 조건을 검증할 수 있도록 설계하였습니다.</a:t>
            </a:r>
          </a:p>
        </p:txBody>
      </p:sp>
    </p:spTree>
    <p:extLst>
      <p:ext uri="{BB962C8B-B14F-4D97-AF65-F5344CB8AC3E}">
        <p14:creationId xmlns:p14="http://schemas.microsoft.com/office/powerpoint/2010/main" val="3335529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ko-KR" altLang="en-US" sz="1801" dirty="0" err="1"/>
              <a:t>제안내용의</a:t>
            </a:r>
            <a:r>
              <a:rPr lang="ko-KR" altLang="en-US" sz="1801" dirty="0"/>
              <a:t> 상세 설명</a:t>
            </a:r>
            <a:endParaRPr lang="x-none" altLang="en-US" sz="180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65EF6-0DEC-EE2C-64A5-222ABC2D93FC}"/>
              </a:ext>
            </a:extLst>
          </p:cNvPr>
          <p:cNvSpPr txBox="1"/>
          <p:nvPr/>
        </p:nvSpPr>
        <p:spPr>
          <a:xfrm>
            <a:off x="502920" y="751317"/>
            <a:ext cx="11155680" cy="473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KR" sz="1200" b="1" dirty="0"/>
              <a:t>PastCookie는 사용자가 현재의 문구, 사진, 영상, 음성 메시지를 미래의 특정 시점에 다시 도착하도록 설정하는 Future Feed SNS</a:t>
            </a:r>
            <a:r>
              <a:rPr lang="ko-KR" altLang="en-US" sz="1200" b="1" dirty="0"/>
              <a:t>이며</a:t>
            </a:r>
            <a:r>
              <a:rPr lang="en-US" altLang="ko-KR" sz="1200" b="1" dirty="0"/>
              <a:t>,</a:t>
            </a: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KR" sz="1200" b="1" dirty="0"/>
              <a:t>“작성 → 캡슐화 → 예약일까지 대기 → 개봉 → 공유/회고”의 흐름</a:t>
            </a:r>
            <a:r>
              <a:rPr lang="ko-KR" altLang="en-US" sz="1200" b="1" dirty="0"/>
              <a:t>을 가지고자 합니다</a:t>
            </a:r>
            <a:r>
              <a:rPr lang="en-US" altLang="ko-KR" sz="1200" b="1" dirty="0"/>
              <a:t>.</a:t>
            </a:r>
            <a:endParaRPr sz="1150" b="1" dirty="0">
              <a:latin typeface="NanumSquare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6DBCB0-03C1-7A0D-0096-C356C55B58D0}"/>
              </a:ext>
            </a:extLst>
          </p:cNvPr>
          <p:cNvSpPr/>
          <p:nvPr/>
        </p:nvSpPr>
        <p:spPr>
          <a:xfrm>
            <a:off x="594360" y="1457789"/>
            <a:ext cx="3520440" cy="24696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1F5DB8"/>
                </a:solidFill>
                <a:latin typeface="NanumSquare"/>
              </a:rPr>
              <a:t>A.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일반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캡슐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사용자는 간편 가입 후 텍스트, 사진, 영상, 음성 메시지를 담아 누구나 쉽게 캡슐을 만들 수 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캡슐은 </a:t>
            </a:r>
            <a:r>
              <a:rPr lang="ko-KR" altLang="en-US" sz="1200" dirty="0">
                <a:solidFill>
                  <a:schemeClr val="tx1"/>
                </a:solidFill>
              </a:rPr>
              <a:t>사용자가 지정한 </a:t>
            </a:r>
            <a:r>
              <a:rPr lang="en-KR" sz="1200" dirty="0">
                <a:solidFill>
                  <a:schemeClr val="tx1"/>
                </a:solidFill>
              </a:rPr>
              <a:t>특정 날짜, 특정 이벤트 등 원하는 미래 시점에 맞춰 예약할 수 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공개 범위는 나만 보기, 친구와 함께 열기, 특정 수신자에게 전달, 공개 피드 공유 중 선택할 수 있으며, 개봉 이후에는 친구와 공유하거나 다음 캡슐을 만들 수 있다.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7C0D57-3B7B-1B40-FCF0-5F8B6494AE99}"/>
              </a:ext>
            </a:extLst>
          </p:cNvPr>
          <p:cNvSpPr/>
          <p:nvPr/>
        </p:nvSpPr>
        <p:spPr>
          <a:xfrm>
            <a:off x="4370832" y="1457788"/>
            <a:ext cx="3520440" cy="24696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6235B5"/>
                </a:solidFill>
                <a:latin typeface="NanumSquare"/>
              </a:rPr>
              <a:t>B. AI </a:t>
            </a:r>
            <a:r>
              <a:rPr sz="1500" b="1" dirty="0" err="1">
                <a:solidFill>
                  <a:srgbClr val="6235B5"/>
                </a:solidFill>
                <a:latin typeface="NanumSquare"/>
              </a:rPr>
              <a:t>회고</a:t>
            </a:r>
            <a:r>
              <a:rPr sz="1500" b="1" dirty="0">
                <a:solidFill>
                  <a:srgbClr val="6235B5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6235B5"/>
                </a:solidFill>
                <a:latin typeface="NanumSquare"/>
              </a:rPr>
              <a:t>보조</a:t>
            </a:r>
            <a:endParaRPr sz="1500" b="1" dirty="0">
              <a:solidFill>
                <a:srgbClr val="6235B5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AI는 사용자가 작성한 기록을 바탕으로 캡슐 제목, 미래 편지 초안, 감정 키워드, 해시태그, 회고 질문을 제안한다.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개봉 시점에는 과거의 내가 남긴 메시지를 현재의 나와 비교할 수 있도록 요약 카드와 회고 문장을 생성한다.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AI는 사용자의 감정을 대신 판단하는 것이 아니라, 기록을 더 잘 남기고 다시 돌아볼 수 있도록 정리와 표현을 보조하는 역할을 한다.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CFB31F-455C-5F27-916D-F32B99D2C988}"/>
              </a:ext>
            </a:extLst>
          </p:cNvPr>
          <p:cNvSpPr/>
          <p:nvPr/>
        </p:nvSpPr>
        <p:spPr>
          <a:xfrm>
            <a:off x="8138160" y="1457789"/>
            <a:ext cx="3520440" cy="2469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>
                <a:solidFill>
                  <a:srgbClr val="B77800"/>
                </a:solidFill>
                <a:latin typeface="NanumSquare"/>
              </a:rPr>
              <a:t>C. Verified Capsule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장기 보관, 특정 수신자 전달, 가족·수탁자 캡슐, 부재 이후 전달처럼 신뢰가 중요한 캡슐에는 Verified Capsule 기능을 선택적으로 적용한다.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모바일 신분증과 OpenDID를 활용해 작성자, 수신자, 수탁자의 권한을 검증하되, 원본 신분정보는 저장하지 않고 검증 결과와 정책만 보관한다.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블록체인에는 캡슐 원문이 아니라 해시값, 공개 조건, 예약 시점만 기록하여 캡슐이 위변조되지 않았고 정해진 조건에 따라 개봉되었음을 확인할 수 있게 한다.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0D7D71-0922-AAF8-F88A-11C4C3858639}"/>
              </a:ext>
            </a:extLst>
          </p:cNvPr>
          <p:cNvSpPr/>
          <p:nvPr/>
        </p:nvSpPr>
        <p:spPr>
          <a:xfrm>
            <a:off x="594360" y="4049962"/>
            <a:ext cx="11064240" cy="16612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1F5DB8"/>
                </a:solidFill>
                <a:latin typeface="NanumSquare"/>
              </a:rPr>
              <a:t>서비스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동작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흐름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endParaRPr lang="en-KR" sz="1200" dirty="0">
              <a:solidFill>
                <a:schemeClr val="tx1"/>
              </a:solidFill>
            </a:endParaRPr>
          </a:p>
          <a:p>
            <a:pPr algn="ctr"/>
            <a:r>
              <a:rPr lang="en-KR" sz="1200" dirty="0">
                <a:solidFill>
                  <a:schemeClr val="tx1"/>
                </a:solidFill>
              </a:rPr>
              <a:t>• 사용자는 텍스트, 사진, 영상, 음성 메시지를 작성하고, 국가·시간대 기준으로 정확한 개봉 날짜와 시간을 지정한다.</a:t>
            </a:r>
            <a:br>
              <a:rPr lang="en-KR" sz="1200" dirty="0">
                <a:solidFill>
                  <a:schemeClr val="tx1"/>
                </a:solidFill>
              </a:rPr>
            </a:br>
            <a:r>
              <a:rPr lang="en-KR" sz="1200" dirty="0">
                <a:solidFill>
                  <a:schemeClr val="tx1"/>
                </a:solidFill>
              </a:rPr>
              <a:t>• AI는 제목, 요약, 감정 키워드, 미래 질문을 제안하며, 사용자가 승인한 내용만 캡슐로 봉인된다.</a:t>
            </a:r>
            <a:br>
              <a:rPr lang="en-KR" sz="1200" dirty="0">
                <a:solidFill>
                  <a:schemeClr val="tx1"/>
                </a:solidFill>
              </a:rPr>
            </a:br>
            <a:r>
              <a:rPr lang="en-KR" sz="1200" dirty="0">
                <a:solidFill>
                  <a:schemeClr val="tx1"/>
                </a:solidFill>
              </a:rPr>
              <a:t>• 캡슐 원문은 암호화해 오프체인에 저장하고, 블록체인에는 해시값과 공개 정책, 개봉 시간만 기록한다.</a:t>
            </a:r>
            <a:br>
              <a:rPr lang="en-KR" sz="1200" dirty="0">
                <a:solidFill>
                  <a:schemeClr val="tx1"/>
                </a:solidFill>
              </a:rPr>
            </a:br>
            <a:r>
              <a:rPr lang="en-KR" sz="1200" dirty="0">
                <a:solidFill>
                  <a:schemeClr val="tx1"/>
                </a:solidFill>
              </a:rPr>
              <a:t>• 예약된 날짜와 시간이 되면 수신자에게 알림이 전달되고, 캡슐을 개봉하거나 친구·가족과 공유할 수 있다.</a:t>
            </a:r>
            <a:br>
              <a:rPr lang="en-KR" sz="1200" dirty="0">
                <a:solidFill>
                  <a:schemeClr val="tx1"/>
                </a:solidFill>
              </a:rPr>
            </a:br>
            <a:r>
              <a:rPr lang="en-KR" sz="1200" dirty="0">
                <a:solidFill>
                  <a:schemeClr val="tx1"/>
                </a:solidFill>
              </a:rPr>
              <a:t>• 중요한 캡슐에는 모바일 신분증/OpenDID 기반 Verified Capsule을 적용해 작성자와 수신자 권한을 검증한다.</a:t>
            </a:r>
          </a:p>
        </p:txBody>
      </p:sp>
    </p:spTree>
    <p:extLst>
      <p:ext uri="{BB962C8B-B14F-4D97-AF65-F5344CB8AC3E}">
        <p14:creationId xmlns:p14="http://schemas.microsoft.com/office/powerpoint/2010/main" val="3249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7248-A073-ECEF-D553-BFA3595F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D6E8D909-03FD-43E8-D957-51EF342181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ko-KR" altLang="en-US" sz="1801"/>
              <a:t>제안내용의 상세 설명</a:t>
            </a:r>
            <a:endParaRPr lang="x-none" altLang="en-US" sz="180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C80126-E576-2BC8-1C5C-5429BFF4A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30" y="1163814"/>
            <a:ext cx="9311739" cy="523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1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58B5F-1741-A348-11C8-44A1BDCC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AACBD3C-B09B-F1A6-36ED-04B9341629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ko-KR" altLang="en-US" sz="1801"/>
              <a:t>제안내용의 상세 설명</a:t>
            </a:r>
            <a:endParaRPr lang="x-none" altLang="en-US" sz="180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96C9A-4E33-9BAD-5B8F-2121E227E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42" y="932321"/>
            <a:ext cx="9726915" cy="546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3"/>
            </a:pPr>
            <a:r>
              <a:rPr lang="ko-KR" altLang="en-US" sz="1801" dirty="0" err="1"/>
              <a:t>제안내용의</a:t>
            </a:r>
            <a:r>
              <a:rPr lang="ko-KR" altLang="en-US" sz="1801" dirty="0"/>
              <a:t> 차별성</a:t>
            </a:r>
            <a:endParaRPr lang="x-none" altLang="en-US" sz="180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19241-575C-0138-C150-56FD317C0588}"/>
              </a:ext>
            </a:extLst>
          </p:cNvPr>
          <p:cNvSpPr txBox="1"/>
          <p:nvPr/>
        </p:nvSpPr>
        <p:spPr>
          <a:xfrm>
            <a:off x="502920" y="658368"/>
            <a:ext cx="11155680" cy="27276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KR" sz="1200" b="1" dirty="0"/>
              <a:t>PastCookie는 해외 타임캡슐·회고 서비스의 장점을 참고하되, 이를 “Future Feed SNS + AI 회고 + 선택형 검증” 구조로 확장한다.</a:t>
            </a:r>
            <a:endParaRPr sz="1150" b="1" dirty="0">
              <a:solidFill>
                <a:srgbClr val="5C6775"/>
              </a:solidFill>
              <a:latin typeface="NanumSquare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AB907B-F360-7DB4-BC2A-D584269787E5}"/>
              </a:ext>
            </a:extLst>
          </p:cNvPr>
          <p:cNvSpPr/>
          <p:nvPr/>
        </p:nvSpPr>
        <p:spPr>
          <a:xfrm>
            <a:off x="594360" y="1051560"/>
            <a:ext cx="2788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1F5DB8"/>
                </a:solidFill>
                <a:latin typeface="NanumSquare"/>
              </a:rPr>
              <a:t>FutureMe와의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차이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r>
              <a:rPr lang="en-KR" sz="1100" dirty="0">
                <a:solidFill>
                  <a:schemeClr val="tx1"/>
                </a:solidFill>
              </a:rPr>
              <a:t>• FutureMe는 미래의 나에게 편지를 보내는 경험에 강점이 있다.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PastCookie는 텍스트 편지를 넘어 사진, 영상, 음성, 친구 태그, 공개 피드까지 포함하는 SNS형 캡슐 경험을 제공한다.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단순 발송에서 끝나는 것이 아니라, 개봉 후 반응·댓글·공유·다음 캡슐 생성으로 이어지는 반복 루프를 만든다.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D918FF-5105-EE5B-FDF8-27DC133B37C9}"/>
              </a:ext>
            </a:extLst>
          </p:cNvPr>
          <p:cNvSpPr/>
          <p:nvPr/>
        </p:nvSpPr>
        <p:spPr>
          <a:xfrm>
            <a:off x="3611880" y="1051560"/>
            <a:ext cx="2788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2C8A56"/>
                </a:solidFill>
                <a:latin typeface="NanumSquare"/>
              </a:rPr>
              <a:t>Timehop과의</a:t>
            </a:r>
            <a:r>
              <a:rPr sz="1500" b="1" dirty="0">
                <a:solidFill>
                  <a:srgbClr val="2C8A56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2C8A56"/>
                </a:solidFill>
                <a:latin typeface="NanumSquare"/>
              </a:rPr>
              <a:t>차이</a:t>
            </a:r>
            <a:endParaRPr sz="1500" b="1" dirty="0">
              <a:solidFill>
                <a:srgbClr val="2C8A56"/>
              </a:solidFill>
              <a:latin typeface="NanumSquare"/>
            </a:endParaRPr>
          </a:p>
          <a:p>
            <a:r>
              <a:rPr lang="en-KR" sz="1100" dirty="0">
                <a:solidFill>
                  <a:schemeClr val="tx1"/>
                </a:solidFill>
              </a:rPr>
              <a:t>• Timehop은 과거의 사진과 게시물을 다시 보여주는 회고 경험에 가깝다.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PastCookie는 과거 회고에 머무르지 않고, 사용자가 직접 미래의 개봉 날짜와 시간을 설계한다.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사용자는 “언젠가 다시 보기”가 아니라, 특정 날짜와 이벤트에 맞춰 기록이 도착하는 경험을 만든다.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DD0ACA-5F23-37E8-CC5A-E23E71518F21}"/>
              </a:ext>
            </a:extLst>
          </p:cNvPr>
          <p:cNvSpPr/>
          <p:nvPr/>
        </p:nvSpPr>
        <p:spPr>
          <a:xfrm>
            <a:off x="6629400" y="1051560"/>
            <a:ext cx="2788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6235B5"/>
                </a:solidFill>
                <a:latin typeface="NanumSquare"/>
              </a:rPr>
              <a:t>FOREVER와의</a:t>
            </a:r>
            <a:r>
              <a:rPr sz="1500" b="1" dirty="0">
                <a:solidFill>
                  <a:srgbClr val="6235B5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6235B5"/>
                </a:solidFill>
                <a:latin typeface="NanumSquare"/>
              </a:rPr>
              <a:t>차이</a:t>
            </a:r>
            <a:endParaRPr sz="1500" b="1" dirty="0">
              <a:solidFill>
                <a:srgbClr val="6235B5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8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FOREVER는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사진·영상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등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가족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기록을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장기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보관하는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아카이브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성격이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강하다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8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PastCookie는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보관보다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“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미래에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도착하는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소셜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경험”을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전면에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둔다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8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장기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보관은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프리미엄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/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고신뢰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기능으로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080" b="0" dirty="0" err="1">
                <a:solidFill>
                  <a:schemeClr val="tx1"/>
                </a:solidFill>
                <a:latin typeface="NanumSquare"/>
              </a:rPr>
              <a:t>확장한다</a:t>
            </a:r>
            <a:r>
              <a:rPr sz="1080" b="0" dirty="0">
                <a:solidFill>
                  <a:schemeClr val="tx1"/>
                </a:solidFill>
                <a:latin typeface="NanumSquare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E061F2E-469B-8428-1BCA-B1889B43CC34}"/>
              </a:ext>
            </a:extLst>
          </p:cNvPr>
          <p:cNvSpPr/>
          <p:nvPr/>
        </p:nvSpPr>
        <p:spPr>
          <a:xfrm>
            <a:off x="9646920" y="1051560"/>
            <a:ext cx="2011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B77800"/>
                </a:solidFill>
                <a:latin typeface="NanumSquare"/>
              </a:rPr>
              <a:t>PastCookie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핵심</a:t>
            </a:r>
            <a:endParaRPr sz="1500" b="1" dirty="0">
              <a:solidFill>
                <a:srgbClr val="B77800"/>
              </a:solidFill>
              <a:latin typeface="NanumSquare"/>
            </a:endParaRPr>
          </a:p>
          <a:p>
            <a:r>
              <a:rPr lang="en-KR" sz="1100" dirty="0">
                <a:solidFill>
                  <a:schemeClr val="tx1"/>
                </a:solidFill>
              </a:rPr>
              <a:t>• Future Feed SNS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정확한 날짜·시간 예약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AI 회고 카드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친구와 함께 개봉·공유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Verified Capsule</a:t>
            </a:r>
          </a:p>
          <a:p>
            <a:r>
              <a:rPr lang="en-KR" sz="1100" dirty="0">
                <a:solidFill>
                  <a:schemeClr val="tx1"/>
                </a:solidFill>
              </a:rPr>
              <a:t>• 블록체인 기반 봉인 검증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9CC62F-A9CE-643B-6A29-BE693F3B8D2A}"/>
              </a:ext>
            </a:extLst>
          </p:cNvPr>
          <p:cNvSpPr/>
          <p:nvPr/>
        </p:nvSpPr>
        <p:spPr>
          <a:xfrm>
            <a:off x="594360" y="324612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1F5DB8"/>
                </a:solidFill>
                <a:latin typeface="NanumSquare"/>
              </a:rPr>
              <a:t>일반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SNS와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다른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점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3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기존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SNS는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“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지금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올리고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바로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반응받는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피드”가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중심이다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.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PastCookie는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콘텐츠가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미래에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열리도록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설계되어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기다림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자체가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콘텐츠가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된다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sz="1130" b="0" dirty="0">
              <a:solidFill>
                <a:schemeClr val="tx1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3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댓글·좋아요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중심의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짧은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소비가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아니라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특정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날짜에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도착하는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감정적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이벤트를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만든다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lang="en-US" sz="1130" b="0" dirty="0">
              <a:solidFill>
                <a:schemeClr val="tx1"/>
              </a:solidFill>
              <a:latin typeface="NanumSquare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30" b="0" dirty="0">
                <a:solidFill>
                  <a:schemeClr val="tx1"/>
                </a:solidFill>
                <a:latin typeface="NanumSquare"/>
              </a:rPr>
              <a:t>•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생일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졸업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입대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유학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연애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프로젝트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,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가족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기록처럼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실제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관계와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시간성을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가진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콘텐츠에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 </a:t>
            </a:r>
            <a:r>
              <a:rPr sz="1130" b="0" dirty="0" err="1">
                <a:solidFill>
                  <a:schemeClr val="tx1"/>
                </a:solidFill>
                <a:latin typeface="NanumSquare"/>
              </a:rPr>
              <a:t>적합하다</a:t>
            </a:r>
            <a:r>
              <a:rPr sz="1130" b="0" dirty="0">
                <a:solidFill>
                  <a:schemeClr val="tx1"/>
                </a:solidFill>
                <a:latin typeface="NanumSquare"/>
              </a:rPr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2755DA-1EEA-3FA7-C613-9E355597E612}"/>
              </a:ext>
            </a:extLst>
          </p:cNvPr>
          <p:cNvSpPr/>
          <p:nvPr/>
        </p:nvSpPr>
        <p:spPr>
          <a:xfrm>
            <a:off x="6217920" y="3246120"/>
            <a:ext cx="54406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B77800"/>
                </a:solidFill>
                <a:latin typeface="NanumSquare"/>
              </a:rPr>
              <a:t>검증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레이어가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필요한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순간</a:t>
            </a:r>
            <a:endParaRPr sz="1500" b="1" dirty="0">
              <a:solidFill>
                <a:srgbClr val="B77800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PastCookie는 모든 캡슐에 신분증 인증을 요구하지 않는다. 일반 캡슐은 누구나 가볍게 만들고 공유할 수 있다.</a:t>
            </a:r>
          </a:p>
          <a:p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다만 장기 보관, 특정 수신자 전달, 부재 이후 전달, 가족·수탁자 캡슐처럼 신뢰가 중요한 경우에는 검증이 필요하다.</a:t>
            </a:r>
          </a:p>
          <a:p>
            <a:endParaRPr lang="en-KR" sz="1200" dirty="0">
              <a:solidFill>
                <a:schemeClr val="tx1"/>
              </a:solidFill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이때 모바일 신분증과 OpenDID는 한국 MVP의 선택형 신뢰 레이어로 적용되며, 글로벌 확장 시에는 국가별 ID Wallet 또는 VC 기반 인증으로 대체 가능하다.</a:t>
            </a:r>
          </a:p>
        </p:txBody>
      </p:sp>
    </p:spTree>
    <p:extLst>
      <p:ext uri="{BB962C8B-B14F-4D97-AF65-F5344CB8AC3E}">
        <p14:creationId xmlns:p14="http://schemas.microsoft.com/office/powerpoint/2010/main" val="156902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4"/>
            </a:pPr>
            <a:r>
              <a:rPr lang="ko-KR" altLang="en-US" sz="1801" dirty="0"/>
              <a:t>기대효과</a:t>
            </a:r>
            <a:endParaRPr lang="x-none" altLang="en-US" sz="180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DCD0F-9BA2-8480-C8FF-4CE3D7FCBD21}"/>
              </a:ext>
            </a:extLst>
          </p:cNvPr>
          <p:cNvSpPr txBox="1"/>
          <p:nvPr/>
        </p:nvSpPr>
        <p:spPr>
          <a:xfrm>
            <a:off x="502920" y="658368"/>
            <a:ext cx="11155680" cy="27276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KR" sz="1200" b="1" dirty="0"/>
              <a:t>PastCookie는 가벼운 SNS에서 시작해, 미래에 다시 도착하는 기록과 중요한 순간의 전달 경험으로 확장된다.</a:t>
            </a:r>
            <a:endParaRPr sz="1150" b="1" dirty="0">
              <a:solidFill>
                <a:srgbClr val="5C6775"/>
              </a:solidFill>
              <a:latin typeface="NanumSquare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6ACA00-EB25-628D-06E1-F594DA75BCA3}"/>
              </a:ext>
            </a:extLst>
          </p:cNvPr>
          <p:cNvSpPr/>
          <p:nvPr/>
        </p:nvSpPr>
        <p:spPr>
          <a:xfrm>
            <a:off x="594360" y="105156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1F5DB8"/>
                </a:solidFill>
                <a:latin typeface="NanumSquare"/>
              </a:rPr>
              <a:t>사용자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경험</a:t>
            </a:r>
            <a:r>
              <a:rPr sz="1500" b="1" dirty="0">
                <a:solidFill>
                  <a:srgbClr val="1F5DB8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1F5DB8"/>
                </a:solidFill>
                <a:latin typeface="NanumSquare"/>
              </a:rPr>
              <a:t>효과</a:t>
            </a:r>
            <a:endParaRPr sz="1500" b="1" dirty="0">
              <a:solidFill>
                <a:srgbClr val="1F5DB8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사용자는 오늘의 기록을 단순히 업로드하는 것이 아니라, 미래의 특정 날짜와 시간에 다시 만나는 새로운 SNS 경험을 하게 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친구와 함께 열기, 기념일 캡슐, 생일 메시지, 단기 챌린지처럼 기다림과 개봉이 있는 자연스러운 재방문 루프를 만든다.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AI 회고 카드는 “그때의 나”와 “지금의 나”를 비교하게 하여, 단순 게시물이 아닌 감정적인 기억 경험으로 확장된다.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사용자가 부재한 이후에도 친구의 결혼식, 부모님의 생일, 자녀의 기념일처럼 중요한 순간에 미리 남긴 메시지를 전달할 수 있다.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FA77C0-8943-3960-D19E-FC0C28B26316}"/>
              </a:ext>
            </a:extLst>
          </p:cNvPr>
          <p:cNvSpPr/>
          <p:nvPr/>
        </p:nvSpPr>
        <p:spPr>
          <a:xfrm>
            <a:off x="6172200" y="105156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B77800"/>
                </a:solidFill>
                <a:latin typeface="NanumSquare"/>
              </a:rPr>
              <a:t>사업화</a:t>
            </a:r>
            <a:r>
              <a:rPr sz="1500" b="1" dirty="0">
                <a:solidFill>
                  <a:srgbClr val="B77800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B77800"/>
                </a:solidFill>
                <a:latin typeface="NanumSquare"/>
              </a:rPr>
              <a:t>효과</a:t>
            </a:r>
            <a:endParaRPr sz="1500" b="1" dirty="0">
              <a:solidFill>
                <a:srgbClr val="B77800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초기에는 무료 일반 캡슐을 중심으로 사용자를 확보하고, 장기 보관·고용량 미디어·가족 캡슐·검증형 캡슐을 유료 기능으로 확장할 수 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개인 사용자뿐 아니라 커플, 친구 그룹, 가족, 동아리, 팬 커뮤니티, 크리에이터 공식 캡슐 등 다양한 소셜 사용처로 확장 가능하다.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한국 MVP에서는 모바일 신분증 기반 Verified Capsule을 먼저 실증하고, 이후 글로벌 시장에서는 국가별 ID Wallet 또는 VC 기반 인증으로 확장할 수 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PastCookie는 SNS, 타임캡슐, AI 회고, 디지털 아카이브, 디지털 유산 시장을 단계적으로 연결하는 플랫폼으로 성장할 수 있다.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716CAD-0785-3899-CE1B-2C01CCD60050}"/>
              </a:ext>
            </a:extLst>
          </p:cNvPr>
          <p:cNvSpPr/>
          <p:nvPr/>
        </p:nvSpPr>
        <p:spPr>
          <a:xfrm>
            <a:off x="594360" y="342900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6235B5"/>
                </a:solidFill>
                <a:latin typeface="NanumSquare"/>
              </a:rPr>
              <a:t>기술·신뢰</a:t>
            </a:r>
            <a:r>
              <a:rPr sz="1500" b="1" dirty="0">
                <a:solidFill>
                  <a:srgbClr val="6235B5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6235B5"/>
                </a:solidFill>
                <a:latin typeface="NanumSquare"/>
              </a:rPr>
              <a:t>효과</a:t>
            </a:r>
            <a:endParaRPr sz="1500" b="1" dirty="0">
              <a:solidFill>
                <a:srgbClr val="6235B5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원문 데이터는 암호화된 오프체인 저장소에 보관하고, 블록체인에는 해시값과 공개 정책만 기록하여 개인정보 노출 위험을 줄인다.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모바일 신분증은 필수 가입 조건이 아니라, 장기 보관·특정 수신자 전달·부재 이후 전달처럼 신뢰가 필요한 캡슐에만 선택적으로 적용한다.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OpenDID/VC 구조를 활용하면 반복 검증 시 전체 신분정보가 아니라 필요한 속성만 확인하는 방식으로 확장할 수 있다.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국가와 시간대 기준 예약, 수신자 권한 검증, 캡슐 위변조 확인을 통해 글로벌 서비스에 필요한 신뢰 기반을 마련한다.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215F59-9B34-8EAC-5FB9-2D225185FC67}"/>
              </a:ext>
            </a:extLst>
          </p:cNvPr>
          <p:cNvSpPr/>
          <p:nvPr/>
        </p:nvSpPr>
        <p:spPr>
          <a:xfrm>
            <a:off x="6172200" y="34290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>
              <a:spcAft>
                <a:spcPts val="500"/>
              </a:spcAft>
            </a:pPr>
            <a:r>
              <a:rPr sz="1500" b="1" dirty="0" err="1">
                <a:solidFill>
                  <a:srgbClr val="2C8A56"/>
                </a:solidFill>
                <a:latin typeface="NanumSquare"/>
              </a:rPr>
              <a:t>초기</a:t>
            </a:r>
            <a:r>
              <a:rPr sz="1500" b="1" dirty="0">
                <a:solidFill>
                  <a:srgbClr val="2C8A56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2C8A56"/>
                </a:solidFill>
                <a:latin typeface="NanumSquare"/>
              </a:rPr>
              <a:t>검증</a:t>
            </a:r>
            <a:r>
              <a:rPr sz="1500" b="1" dirty="0">
                <a:solidFill>
                  <a:srgbClr val="2C8A56"/>
                </a:solidFill>
                <a:latin typeface="NanumSquare"/>
              </a:rPr>
              <a:t> </a:t>
            </a:r>
            <a:r>
              <a:rPr sz="1500" b="1" dirty="0" err="1">
                <a:solidFill>
                  <a:srgbClr val="2C8A56"/>
                </a:solidFill>
                <a:latin typeface="NanumSquare"/>
              </a:rPr>
              <a:t>지표</a:t>
            </a:r>
            <a:endParaRPr sz="1500" b="1" dirty="0">
              <a:solidFill>
                <a:srgbClr val="2C8A56"/>
              </a:solidFill>
              <a:latin typeface="NanumSquare"/>
            </a:endParaRPr>
          </a:p>
          <a:p>
            <a:r>
              <a:rPr lang="en-KR" sz="1200" dirty="0">
                <a:solidFill>
                  <a:schemeClr val="tx1"/>
                </a:solidFill>
              </a:rPr>
              <a:t>• 첫 캡슐 생성 완료율, 예약 날짜·시간 설정률, D+1/D+7 개봉률을 통해 핵심 사용 흐름이 실제로 작동하는지 검증한다.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개봉 후 댓글, 반응, 친구 공유, 다음 캡슐 생성률을 통해 PastCookie가 단발성 기능이 아니라 반복 사용되는 SNS 루프인지 확인한다.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장기 캡슐은 처음부터 강요하지 않고, 단기 캡슐 개봉 경험 이후 30일·1년 이상 캡슐로 자연스럽게 확장되는지를 측정한다.</a:t>
            </a:r>
          </a:p>
          <a:p>
            <a:r>
              <a:rPr lang="en-KR" sz="1200" dirty="0">
                <a:solidFill>
                  <a:schemeClr val="tx1"/>
                </a:solidFill>
              </a:rPr>
              <a:t>• Verified Capsule 전환율을 통해 사용자가 어떤 순간에 모바일 신분증 기반 검증을 필요로 하는지 확인하고, 해커톤 데모에서는 압축 시간 모드로 생성→봉인→예약→개봉 흐름을 즉시 시연한다.</a:t>
            </a:r>
          </a:p>
        </p:txBody>
      </p:sp>
    </p:spTree>
    <p:extLst>
      <p:ext uri="{BB962C8B-B14F-4D97-AF65-F5344CB8AC3E}">
        <p14:creationId xmlns:p14="http://schemas.microsoft.com/office/powerpoint/2010/main" val="3551282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5"/>
            </a:pPr>
            <a:r>
              <a:rPr lang="ko-KR" altLang="en-US" sz="1801" dirty="0"/>
              <a:t>제안내용 관련 자료</a:t>
            </a:r>
            <a:endParaRPr lang="x-none" altLang="en-US" sz="180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13B13C-166F-A607-9780-847149838B63}"/>
              </a:ext>
            </a:extLst>
          </p:cNvPr>
          <p:cNvSpPr/>
          <p:nvPr/>
        </p:nvSpPr>
        <p:spPr>
          <a:xfrm>
            <a:off x="502920" y="1005839"/>
            <a:ext cx="11064240" cy="51937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r>
              <a:rPr lang="en-KR" sz="1600" b="1" dirty="0">
                <a:solidFill>
                  <a:schemeClr val="tx1"/>
                </a:solidFill>
              </a:rPr>
              <a:t>해외 서비스 레퍼런스</a:t>
            </a:r>
          </a:p>
          <a:p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• FutureMe: 미래의 자신에게 편지를 쓰고 날짜를 선택해 발송하는 서비스.</a:t>
            </a:r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출처: </a:t>
            </a:r>
            <a:r>
              <a:rPr lang="en-KR" dirty="0">
                <a:solidFill>
                  <a:schemeClr val="tx1"/>
                </a:solidFill>
                <a:hlinkClick r:id="rId3"/>
              </a:rPr>
              <a:t>https://www.futureme.org/</a:t>
            </a:r>
            <a:endParaRPr lang="en-KR" sz="1600" dirty="0">
              <a:solidFill>
                <a:schemeClr val="tx1"/>
              </a:solidFill>
            </a:endParaRPr>
          </a:p>
          <a:p>
            <a:r>
              <a:rPr lang="en-KR" sz="1600" dirty="0">
                <a:solidFill>
                  <a:schemeClr val="tx1"/>
                </a:solidFill>
              </a:rPr>
              <a:t>• Timehop: 과거 사진과 기억을 매일 다시 보여주는 회고 앱.</a:t>
            </a:r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출처: </a:t>
            </a:r>
            <a:r>
              <a:rPr lang="en-KR" dirty="0">
                <a:solidFill>
                  <a:schemeClr val="tx1"/>
                </a:solidFill>
                <a:hlinkClick r:id="rId4"/>
              </a:rPr>
              <a:t>https://www.timehop.com/</a:t>
            </a:r>
            <a:endParaRPr lang="en-KR" sz="1600" dirty="0">
              <a:solidFill>
                <a:schemeClr val="tx1"/>
              </a:solidFill>
            </a:endParaRPr>
          </a:p>
          <a:p>
            <a:r>
              <a:rPr lang="en-KR" sz="1600" dirty="0">
                <a:solidFill>
                  <a:schemeClr val="tx1"/>
                </a:solidFill>
              </a:rPr>
              <a:t>• FOREVER: 사진·영상·문서 등을 장기 보관하는 디지털 메모리 플랫폼.</a:t>
            </a:r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출처: </a:t>
            </a:r>
            <a:r>
              <a:rPr lang="en-KR" dirty="0">
                <a:solidFill>
                  <a:schemeClr val="tx1"/>
                </a:solidFill>
                <a:hlinkClick r:id="rId5"/>
              </a:rPr>
              <a:t>https://www.forever.com/</a:t>
            </a:r>
            <a:endParaRPr lang="en-KR" dirty="0">
              <a:solidFill>
                <a:schemeClr val="tx1"/>
              </a:solidFill>
            </a:endParaRPr>
          </a:p>
          <a:p>
            <a:endParaRPr lang="en-KR" sz="1600" dirty="0">
              <a:solidFill>
                <a:schemeClr val="tx1"/>
              </a:solidFill>
            </a:endParaRPr>
          </a:p>
          <a:p>
            <a:r>
              <a:rPr lang="en-KR" sz="1600" b="1" dirty="0">
                <a:solidFill>
                  <a:schemeClr val="tx1"/>
                </a:solidFill>
              </a:rPr>
              <a:t>대회 및 기술 근거</a:t>
            </a:r>
          </a:p>
          <a:p>
            <a:endParaRPr lang="en-KR" sz="1600" dirty="0">
              <a:solidFill>
                <a:schemeClr val="tx1"/>
              </a:solidFill>
            </a:endParaRPr>
          </a:p>
          <a:p>
            <a:r>
              <a:rPr lang="en-KR" sz="1600" dirty="0">
                <a:solidFill>
                  <a:schemeClr val="tx1"/>
                </a:solidFill>
              </a:rPr>
              <a:t>• W3C DID Core: 분산 식별자 기반 디지털 신원 표준.</a:t>
            </a:r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출처: </a:t>
            </a:r>
            <a:r>
              <a:rPr lang="en-KR" dirty="0">
                <a:solidFill>
                  <a:schemeClr val="tx1"/>
                </a:solidFill>
                <a:hlinkClick r:id="rId6"/>
              </a:rPr>
              <a:t>https://www.w3.org/TR/did-1.0/</a:t>
            </a:r>
            <a:endParaRPr lang="en-KR" sz="1600" dirty="0">
              <a:solidFill>
                <a:schemeClr val="tx1"/>
              </a:solidFill>
            </a:endParaRPr>
          </a:p>
          <a:p>
            <a:r>
              <a:rPr lang="en-KR" sz="1600" dirty="0">
                <a:solidFill>
                  <a:schemeClr val="tx1"/>
                </a:solidFill>
              </a:rPr>
              <a:t>• W3C Verifiable Credentials Data Model 2.0: 발급자·보유자·검증자 기반 자격증명 표준.</a:t>
            </a:r>
            <a:br>
              <a:rPr lang="en-KR" sz="1600" dirty="0">
                <a:solidFill>
                  <a:schemeClr val="tx1"/>
                </a:solidFill>
              </a:rPr>
            </a:br>
            <a:r>
              <a:rPr lang="en-KR" sz="1600" dirty="0">
                <a:solidFill>
                  <a:schemeClr val="tx1"/>
                </a:solidFill>
              </a:rPr>
              <a:t>출처: </a:t>
            </a:r>
            <a:r>
              <a:rPr lang="en-KR" dirty="0">
                <a:solidFill>
                  <a:schemeClr val="tx1"/>
                </a:solidFill>
                <a:hlinkClick r:id="rId7"/>
              </a:rPr>
              <a:t>https://www.w3.org/TR/vc-data-model-2.0/</a:t>
            </a:r>
            <a:endParaRPr lang="en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48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7F28-B3E8-F644-4200-082BA0AB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C1259860-F0D7-2696-89C7-C6D4C956C1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6707" y="9236"/>
            <a:ext cx="11553218" cy="48613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romanUcPeriod" startAt="6"/>
            </a:pPr>
            <a:r>
              <a:rPr lang="ko-KR" altLang="en-US" sz="1801" dirty="0"/>
              <a:t>기타</a:t>
            </a:r>
            <a:r>
              <a:rPr lang="en-US" altLang="ko-KR" sz="1801" dirty="0"/>
              <a:t>(</a:t>
            </a:r>
            <a:r>
              <a:rPr lang="ko-KR" altLang="en-US" sz="1801" dirty="0"/>
              <a:t>자유 기재</a:t>
            </a:r>
            <a:r>
              <a:rPr lang="en-US" altLang="ko-KR" sz="1801" dirty="0"/>
              <a:t>)</a:t>
            </a:r>
            <a:endParaRPr lang="x-none" altLang="en-US" sz="180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3F6657-09E9-DBC4-B1E7-2728DA8FF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375" y="1781761"/>
            <a:ext cx="8075245" cy="4539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6A3383-F461-6E89-B008-CC2209122571}"/>
              </a:ext>
            </a:extLst>
          </p:cNvPr>
          <p:cNvSpPr txBox="1"/>
          <p:nvPr/>
        </p:nvSpPr>
        <p:spPr>
          <a:xfrm>
            <a:off x="3045981" y="1059408"/>
            <a:ext cx="6100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2000" b="1" dirty="0"/>
              <a:t>PastCookie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:</a:t>
            </a:r>
            <a:r>
              <a:rPr lang="en-KR" sz="2000" b="1" dirty="0"/>
              <a:t> </a:t>
            </a:r>
            <a:r>
              <a:rPr lang="en-US" altLang="ko-KR" sz="2000" b="1" dirty="0"/>
              <a:t>“</a:t>
            </a:r>
            <a:r>
              <a:rPr lang="en-KR" sz="2000" b="1" dirty="0"/>
              <a:t>오늘의 기록을 미래의 중요한 순간</a:t>
            </a:r>
            <a:r>
              <a:rPr lang="ko-KR" altLang="en-US" sz="2000" b="1" dirty="0" err="1"/>
              <a:t>에</a:t>
            </a:r>
            <a:r>
              <a:rPr lang="en-US" altLang="ko-KR" sz="2000" b="1" dirty="0"/>
              <a:t>”</a:t>
            </a:r>
            <a:endParaRPr lang="en-KR" sz="2000" b="1" dirty="0"/>
          </a:p>
        </p:txBody>
      </p:sp>
    </p:spTree>
    <p:extLst>
      <p:ext uri="{BB962C8B-B14F-4D97-AF65-F5344CB8AC3E}">
        <p14:creationId xmlns:p14="http://schemas.microsoft.com/office/powerpoint/2010/main" val="40695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72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21269</TotalTime>
  <Words>2018</Words>
  <Application>Microsoft Macintosh PowerPoint</Application>
  <PresentationFormat>Widescreen</PresentationFormat>
  <Paragraphs>197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맑은 고딕</vt:lpstr>
      <vt:lpstr>NanumSquare</vt:lpstr>
      <vt:lpstr>Arial</vt:lpstr>
      <vt:lpstr>Copperplate Gothic Bold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user;이기혁</dc:creator>
  <cp:lastModifiedBy>남정훈</cp:lastModifiedBy>
  <cp:revision>1732</cp:revision>
  <cp:lastPrinted>2025-03-14T07:27:28Z</cp:lastPrinted>
  <dcterms:created xsi:type="dcterms:W3CDTF">2022-01-06T04:25:31Z</dcterms:created>
  <dcterms:modified xsi:type="dcterms:W3CDTF">2026-05-28T10:21:52Z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C:\Users\steve\Downloads\한국디지털인증협회 소개서_v0.75_20220613.pptx</vt:lpwstr>
  </property>
</Properties>
</file>